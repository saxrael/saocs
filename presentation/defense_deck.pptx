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respected supervisor, internal and external examiners, and members of the panel. My name is Jesutoyin Adeshina, matriculation number U21CS1119. Today, I am proud to present the design and implementation of the Smart Office Appliance Control System—SAOCS. This project addresses the critical intersection of energy conservation, electrical safety, and modern distributed IoT architectures within the Nigerian office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organizations across Nigeria face significant operating expenditure from electricity consumption. Lighting, fans, and cooling units left running after business hours waste hundreds of kilowatt-hours weekly. Physical inspection by facility guards is error-prone, inefficient, and provides zero historical auditing. Furthermore, with recent Band A tariff adjustments, every hour of unmonitored appliance runtime creates substantial financial strain. Our goal was to design an IoT solution engineered specifically to eliminate this operational deficit.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systematically, this research established five core objectives directly fulfilling our academic project proposal: First, constructing the physical embedded switching layer with industrial-grade galvanic isolation. Second, implementing a robust MQTT telemetry protocol that operates through firewalls and mobile hotspots. Third, developing single-authority arbitration to resolve switch conflicts and maintain NVS state memory. Fourth, delivering an accessible, real-time web dashboard with audit logging. And fifth, integrating localized energy cost modeling and benchmarking system performance against sub-500ms latency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multi-tier architecture of SAOCS. At the edge, an ESP32 microcontroller manages relays and switches. Crucially, the ESP32 never accepts inbound network connections. Instead, it initiates an outbound TLS connection to a cloud-hosted Mosquitto MQTT broker. Our FastAPI backend simultaneously connects to the broker, consuming telemetry and publishing commands. The backend pushes updates to connected React clients via WebSockets. This architecture guarantees that even if the hardware operates on a dynamic cellular mobile hotspot, bi-directional communication remains instantaneous without port forwarding.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and hardware isolation were paramount during circuit design. When controlling inductive mains loads, relay coils generate severe back-electromotive force upon switching off. We incorporated PC817 optocouplers to provide complete optical isolation between the ESP32's 3.3-volt logic and the relay drivers, alongside 1N4007 flyback diodes across the coils. For pin allocation, we strictly locked inputs to GPIO 32 through 35. These pins are pure inputs uninvolved in ESP32 boot strapping, preventing relay glitching during microcontroller boot or brownout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resilience is designed for African infrastructural constraints. Traditional IoT designs that run local web servers on microcontrollers fail when deployed behind cellular NAT or dynamic office routers. SAOCS uses strictly outbound MQTT connections. We adopted MQTT QoS 1 with idempotent command handling in firmware. Furthermore, we configured the MQTT Last Will and Testament feature on the status topic. If the device abruptly loses power or cellular link, the broker immediately publishes an offline status packet to the backend, alerting facility administrators within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software backend is powered by Python 3.12 and FastAPI. Unlike traditional synchronous frameworks, FastAPI runs on asyncio, enabling concurrent handling of REST requests, real-time WebSocket client pools, and background MQTT telemetry listening. To arbitrate conflicts between physical wall switches and mobile app clicks, we engineered a single-authority arbitration model in firmware. Rather than relying on fragile distributed clocks or vector timestamps across network boundaries, the ESP32 hardware loop acts as the sole authority: whichever command arrives most recently is applied and published back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frontend was built with React 19, TypeScript, and Tailwind CSS v4. Designed for mobile browsers as well as desktop displays, it complies with WCAG 2.1 AA accessibility standards, featuring 44-pixel touch targets and high-contrast indicators. By utilizing TanStack Query paired with WebSockets, incoming appliance state changes are injected directly into client cache, eliminating polling overhead entirely. The complete production bundle is just 115 kilobytes gzipped, ensuring swift loading even over congested 3G or 4G mobile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empower facility managers with tangible financial data, SAOCS includes an automated energy and expenditure engine. In Nigerian commercial centers, offices are classified under Kaduna Electric Band A tariffs. We model consumption based on the configured wattage of simulated office loads, calculating active runtimes by pairing consecutive on and off events in the audit log. The system computes exact cumulative kilowatt-hours and financial expenditure at 209.5 Naira per kWh. Administrators can export this data into CSV format for accounting audits with a single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subjected the complete hardware-software system to rigorous empirical benchmarking. First, relay actuation latency—measuring the time from a user tapping a dashboard toggle to the physical relay firing—averaged 142 milliseconds, well inside our 500-millisecond design threshold. Second, dashboard state synchronization upon a physical switch toggle averaged 215 milliseconds. Third, our load testing suite verified 20 concurrent client dashboard connections streaming live telemetry simultaneously with zero packet loss or connection drops. All 117 automated unit and integration tests achieved a 100% pass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regulatory compliance were treated with strict engineering rigor. To prevent unauthorized access, public user registration is completely barred; only administrators can invite an email address. We integrated Google OAuth2 with fallback bcrypt password authentication, guarded by an automated rate limiter that locks accounts after five failed attempts. At the transport layer, all traffic is encrypted with TLS. In compliance with the Nigeria Data Protection Act (NDPA) 2023, we practice data minimization, storing only essential metadata and supporting user data deletion upon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accordance with academic integrity, we openly document three evolutionary improvements from our initial written proposal: First, we transitioned the backend from Node.js/Express to Python/FastAPI to leverage Python's asynchronous event loop, strict Pydantic type validation, and auto-generated API specifications. Second, we upgraded firmware compilation from the manual Arduino IDE to PlatformIO Core, guaranteeing reproducible builds and pinned library dependencies. Third, while our initial proposal deferred scheduling to future work, we completed and delivered autonomous background scheduling in Version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juncture, I invite the esteemed members of the panel to turn their attention to our physical prototype box and live web dashboard. We will now walk through six practical operational sequences, demonstrating cold-boot recovery, sub-500ms remote switching, physical manual override, autonomous scheduling, energy cost calculation, and intentional network disconnect.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Smart Office Appliance Control System proves that modern, enterprise-grade IoT architectures can be engineered with resilience, strict safety, and zero commercial software licensing costs. For future research, this platform can be expanded with microwave occupancy sensing and edge predictive load curtailment. I would like to express my deepest gratitude to my project supervisor, the Department of Computer Science at Ahmadu Bello University, and my engineering colleagues Israel and Abdulfatai for their invaluable support. Thank you, and I am now prepared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7680960" cy="4224528"/>
          </a:xfrm>
          <a:prstGeom prst="roundRect">
            <a:avLst>
              <a:gd name="adj" fmla="val 2597"/>
            </a:avLst>
          </a:prstGeom>
          <a:solidFill>
            <a:srgbClr val="1E293B"/>
          </a:solidFill>
          <a:ln w="12700">
            <a:solidFill>
              <a:srgbClr val="334155"/>
            </a:solidFill>
            <a:prstDash val="solid"/>
          </a:ln>
        </p:spPr>
      </p:sp>
      <p:sp>
        <p:nvSpPr>
          <p:cNvPr id="3" name="Text 1"/>
          <p:cNvSpPr/>
          <p:nvPr/>
        </p:nvSpPr>
        <p:spPr>
          <a:xfrm>
            <a:off x="914400" y="777240"/>
            <a:ext cx="7315200" cy="1920240"/>
          </a:xfrm>
          <a:prstGeom prst="rect">
            <a:avLst/>
          </a:prstGeom>
          <a:noFill/>
          <a:ln/>
        </p:spPr>
        <p:txBody>
          <a:bodyPr wrap="square" lIns="0" tIns="0" rIns="0" bIns="0" rtlCol="0" anchor="t"/>
          <a:lstStyle/>
          <a:p>
            <a:pPr algn="ctr" indent="0" marL="0">
              <a:spcAft>
                <a:spcPts val="400"/>
              </a:spcAft>
              <a:buNone/>
            </a:pPr>
            <a:r>
              <a:rPr lang="en-US" sz="1050" b="1" spc="150" kern="0" dirty="0">
                <a:solidFill>
                  <a:srgbClr val="0EA5E9"/>
                </a:solidFill>
                <a:latin typeface="Arial" pitchFamily="34" charset="0"/>
                <a:ea typeface="Arial" pitchFamily="34" charset="-122"/>
                <a:cs typeface="Arial" pitchFamily="34" charset="-120"/>
              </a:rPr>
              <a:t>AHMADU BELLO UNIVERSITY, ZARIA  •  FACULTY OF PHYSICAL SCIENCES</a:t>
            </a:r>
            <a:endParaRPr lang="en-US" sz="1050" dirty="0"/>
          </a:p>
          <a:p>
            <a:pPr algn="ctr" indent="0" marL="0">
              <a:spcAft>
                <a:spcPts val="1600"/>
              </a:spcAft>
              <a:buNone/>
            </a:pPr>
            <a:r>
              <a:rPr lang="en-US" sz="1150" b="1" spc="120" kern="0" dirty="0">
                <a:solidFill>
                  <a:srgbClr val="94A3B8"/>
                </a:solidFill>
                <a:latin typeface="Arial" pitchFamily="34" charset="0"/>
                <a:ea typeface="Arial" pitchFamily="34" charset="-122"/>
                <a:cs typeface="Arial" pitchFamily="34" charset="-120"/>
              </a:rPr>
              <a:t>DEPARTMENT OF COMPUTER SCIENCE</a:t>
            </a:r>
            <a:endParaRPr lang="en-US" sz="1050" dirty="0"/>
          </a:p>
          <a:p>
            <a:pPr algn="ctr" indent="0" marL="0">
              <a:spcAft>
                <a:spcPts val="1000"/>
              </a:spcAft>
              <a:buNone/>
            </a:pPr>
            <a:r>
              <a:rPr lang="en-US" sz="2200" b="1" dirty="0">
                <a:solidFill>
                  <a:srgbClr val="F8FAFC"/>
                </a:solidFill>
                <a:latin typeface="Arial" pitchFamily="34" charset="0"/>
                <a:ea typeface="Arial" pitchFamily="34" charset="-122"/>
                <a:cs typeface="Arial" pitchFamily="34" charset="-120"/>
              </a:rPr>
              <a:t>SMART OFFICE APPLIANCE CONTROL SYSTEM (SAOCS)</a:t>
            </a:r>
            <a:endParaRPr lang="en-US" sz="1050" dirty="0"/>
          </a:p>
          <a:p>
            <a:pPr algn="ctr" indent="0" marL="0">
              <a:buNone/>
            </a:pPr>
            <a:r>
              <a:rPr lang="en-US" sz="1250" dirty="0">
                <a:solidFill>
                  <a:srgbClr val="94A3B8"/>
                </a:solidFill>
                <a:latin typeface="Arial" pitchFamily="34" charset="0"/>
                <a:ea typeface="Arial" pitchFamily="34" charset="-122"/>
                <a:cs typeface="Arial" pitchFamily="34" charset="-120"/>
              </a:rPr>
              <a:t>An IoT-Enabled Hardware-Software Architecture for Commercial Energy Optimization and Remote Auditability</a:t>
            </a:r>
            <a:endParaRPr lang="en-US" sz="1050" dirty="0"/>
          </a:p>
        </p:txBody>
      </p:sp>
      <p:sp>
        <p:nvSpPr>
          <p:cNvPr id="4" name="Shape 2"/>
          <p:cNvSpPr/>
          <p:nvPr/>
        </p:nvSpPr>
        <p:spPr>
          <a:xfrm>
            <a:off x="1280160" y="2834640"/>
            <a:ext cx="6583680" cy="1508760"/>
          </a:xfrm>
          <a:prstGeom prst="roundRect">
            <a:avLst>
              <a:gd name="adj" fmla="val 6061"/>
            </a:avLst>
          </a:prstGeom>
          <a:solidFill>
            <a:srgbClr val="0F172A"/>
          </a:solidFill>
          <a:ln w="12700">
            <a:solidFill>
              <a:srgbClr val="334155"/>
            </a:solidFill>
            <a:prstDash val="solid"/>
          </a:ln>
        </p:spPr>
      </p:sp>
      <p:sp>
        <p:nvSpPr>
          <p:cNvPr id="5" name="Text 3"/>
          <p:cNvSpPr/>
          <p:nvPr/>
        </p:nvSpPr>
        <p:spPr>
          <a:xfrm>
            <a:off x="1554480" y="3017520"/>
            <a:ext cx="3017520" cy="1188720"/>
          </a:xfrm>
          <a:prstGeom prst="rect">
            <a:avLst/>
          </a:prstGeom>
          <a:noFill/>
          <a:ln/>
        </p:spPr>
        <p:txBody>
          <a:bodyPr wrap="square" lIns="0" tIns="0" rIns="0" bIns="0" rtlCol="0" anchor="t"/>
          <a:lstStyle/>
          <a:p>
            <a:pPr algn="l"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CANDIDATE PROFILE</a:t>
            </a:r>
            <a:endParaRPr lang="en-US" sz="900" dirty="0"/>
          </a:p>
          <a:p>
            <a:pPr algn="l" indent="0" marL="0">
              <a:spcAft>
                <a:spcPts val="200"/>
              </a:spcAft>
              <a:buNone/>
            </a:pPr>
            <a:r>
              <a:rPr lang="en-US" sz="1300" b="1" dirty="0">
                <a:solidFill>
                  <a:srgbClr val="F8FAFC"/>
                </a:solidFill>
                <a:latin typeface="Arial" pitchFamily="34" charset="0"/>
                <a:ea typeface="Arial" pitchFamily="34" charset="-122"/>
                <a:cs typeface="Arial" pitchFamily="34" charset="-120"/>
              </a:rPr>
              <a:t>Jesutoyin Adeshina</a:t>
            </a:r>
            <a:endParaRPr lang="en-US" sz="900" dirty="0"/>
          </a:p>
          <a:p>
            <a:pPr algn="l" indent="0" marL="0">
              <a:spcAft>
                <a:spcPts val="200"/>
              </a:spcAft>
              <a:buNone/>
            </a:pPr>
            <a:r>
              <a:rPr lang="en-US" sz="1050" dirty="0">
                <a:solidFill>
                  <a:srgbClr val="94A3B8"/>
                </a:solidFill>
                <a:latin typeface="Arial" pitchFamily="34" charset="0"/>
                <a:ea typeface="Arial" pitchFamily="34" charset="-122"/>
                <a:cs typeface="Arial" pitchFamily="34" charset="-120"/>
              </a:rPr>
              <a:t>Matriculation Number: U21CS1119</a:t>
            </a:r>
            <a:endParaRPr lang="en-US" sz="900" dirty="0"/>
          </a:p>
          <a:p>
            <a:pPr algn="l" indent="0" marL="0">
              <a:buNone/>
            </a:pPr>
            <a:r>
              <a:rPr lang="en-US" sz="1050" dirty="0">
                <a:solidFill>
                  <a:srgbClr val="94A3B8"/>
                </a:solidFill>
                <a:latin typeface="Arial" pitchFamily="34" charset="0"/>
                <a:ea typeface="Arial" pitchFamily="34" charset="-122"/>
                <a:cs typeface="Arial" pitchFamily="34" charset="-120"/>
              </a:rPr>
              <a:t>Degree: B.Sc. Computer Science</a:t>
            </a:r>
            <a:endParaRPr lang="en-US" sz="900" dirty="0"/>
          </a:p>
        </p:txBody>
      </p:sp>
      <p:sp>
        <p:nvSpPr>
          <p:cNvPr id="6" name="Text 4"/>
          <p:cNvSpPr/>
          <p:nvPr/>
        </p:nvSpPr>
        <p:spPr>
          <a:xfrm>
            <a:off x="4754880" y="3017520"/>
            <a:ext cx="2926080" cy="1188720"/>
          </a:xfrm>
          <a:prstGeom prst="rect">
            <a:avLst/>
          </a:prstGeom>
          <a:noFill/>
          <a:ln/>
        </p:spPr>
        <p:txBody>
          <a:bodyPr wrap="square" lIns="0" tIns="0" rIns="0" bIns="0" rtlCol="0" anchor="t"/>
          <a:lstStyle/>
          <a:p>
            <a:pPr algn="l"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ACADEMIC INSTITUTION &amp; SESSION</a:t>
            </a:r>
            <a:endParaRPr lang="en-US" sz="900" dirty="0"/>
          </a:p>
          <a:p>
            <a:pPr algn="l" indent="0" marL="0">
              <a:spcAft>
                <a:spcPts val="200"/>
              </a:spcAft>
              <a:buNone/>
            </a:pPr>
            <a:r>
              <a:rPr lang="en-US" sz="1200" b="1" dirty="0">
                <a:solidFill>
                  <a:srgbClr val="F8FAFC"/>
                </a:solidFill>
                <a:latin typeface="Arial" pitchFamily="34" charset="0"/>
                <a:ea typeface="Arial" pitchFamily="34" charset="-122"/>
                <a:cs typeface="Arial" pitchFamily="34" charset="-120"/>
              </a:rPr>
              <a:t>Faculty of Physical Sciences</a:t>
            </a:r>
            <a:endParaRPr lang="en-US" sz="900" dirty="0"/>
          </a:p>
          <a:p>
            <a:pPr algn="l" indent="0" marL="0">
              <a:spcAft>
                <a:spcPts val="400"/>
              </a:spcAft>
              <a:buNone/>
            </a:pPr>
            <a:r>
              <a:rPr lang="en-US" sz="1050" dirty="0">
                <a:solidFill>
                  <a:srgbClr val="94A3B8"/>
                </a:solidFill>
                <a:latin typeface="Arial" pitchFamily="34" charset="0"/>
                <a:ea typeface="Arial" pitchFamily="34" charset="-122"/>
                <a:cs typeface="Arial" pitchFamily="34" charset="-120"/>
              </a:rPr>
              <a:t>Ahmadu Bello University, Zaria, Nigeria</a:t>
            </a:r>
            <a:endParaRPr lang="en-US" sz="900" dirty="0"/>
          </a:p>
          <a:p>
            <a:pPr algn="l" indent="0" marL="0">
              <a:buNone/>
            </a:pPr>
            <a:r>
              <a:rPr lang="en-US" sz="1050" b="1" dirty="0">
                <a:solidFill>
                  <a:srgbClr val="10B981"/>
                </a:solidFill>
                <a:latin typeface="Arial" pitchFamily="34" charset="0"/>
                <a:ea typeface="Arial" pitchFamily="34" charset="-122"/>
                <a:cs typeface="Arial" pitchFamily="34" charset="-120"/>
              </a:rPr>
              <a:t>Academic Session Defense • April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RESEARCH CONTEXT &amp; MOTIVATION</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Problem Statement &amp; Motivation</a:t>
            </a:r>
            <a:endParaRPr lang="en-US" sz="950" dirty="0"/>
          </a:p>
        </p:txBody>
      </p:sp>
      <p:sp>
        <p:nvSpPr>
          <p:cNvPr id="3" name="Shape 1"/>
          <p:cNvSpPr/>
          <p:nvPr/>
        </p:nvSpPr>
        <p:spPr>
          <a:xfrm>
            <a:off x="731520" y="1143000"/>
            <a:ext cx="2414016" cy="3474720"/>
          </a:xfrm>
          <a:prstGeom prst="roundRect">
            <a:avLst>
              <a:gd name="adj" fmla="val 3030"/>
            </a:avLst>
          </a:prstGeom>
          <a:solidFill>
            <a:srgbClr val="1E293B"/>
          </a:solidFill>
          <a:ln w="12700">
            <a:solidFill>
              <a:srgbClr val="334155"/>
            </a:solidFill>
            <a:prstDash val="solid"/>
          </a:ln>
        </p:spPr>
      </p:sp>
      <p:sp>
        <p:nvSpPr>
          <p:cNvPr id="4" name="Text 2"/>
          <p:cNvSpPr/>
          <p:nvPr/>
        </p:nvSpPr>
        <p:spPr>
          <a:xfrm>
            <a:off x="877824"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EF4444"/>
                </a:solidFill>
                <a:latin typeface="Arial" pitchFamily="34" charset="0"/>
                <a:ea typeface="Arial" pitchFamily="34" charset="-122"/>
                <a:cs typeface="Arial" pitchFamily="34" charset="-120"/>
              </a:rPr>
              <a:t>PHANTOM WASTAGE</a:t>
            </a:r>
            <a:endParaRPr lang="en-US" sz="900" dirty="0"/>
          </a:p>
          <a:p>
            <a:pPr indent="0" marL="0">
              <a:spcAft>
                <a:spcPts val="800"/>
              </a:spcAft>
              <a:buNone/>
            </a:pPr>
            <a:r>
              <a:rPr lang="en-US" sz="1400" b="1" dirty="0">
                <a:solidFill>
                  <a:srgbClr val="F8FAFC"/>
                </a:solidFill>
                <a:latin typeface="Arial" pitchFamily="34" charset="0"/>
                <a:ea typeface="Arial" pitchFamily="34" charset="-122"/>
                <a:cs typeface="Arial" pitchFamily="34" charset="-120"/>
              </a:rPr>
              <a:t>Electrical Energy Waste</a:t>
            </a:r>
            <a:endParaRPr lang="en-US" sz="900" dirty="0"/>
          </a:p>
          <a:p>
            <a:pPr indent="0" marL="0">
              <a:spcAft>
                <a:spcPts val="200"/>
              </a:spcAft>
              <a:buNone/>
            </a:pPr>
            <a:r>
              <a:rPr lang="en-US" sz="2600" b="1" dirty="0">
                <a:solidFill>
                  <a:srgbClr val="EF4444"/>
                </a:solidFill>
                <a:latin typeface="Arial" pitchFamily="34" charset="0"/>
                <a:ea typeface="Arial" pitchFamily="34" charset="-122"/>
                <a:cs typeface="Arial" pitchFamily="34" charset="-120"/>
              </a:rPr>
              <a:t>&gt; 30%</a:t>
            </a:r>
            <a:endParaRPr lang="en-US" sz="90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Preventable Commercial Consumption</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Commercial office buildings incur heavy operational costs from unmonitored lighting, fans, and cooling units left running after business hours and over weekends.</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Continuous baseline loads draw electricity uninterrupted due to absence of automated shutdown controls or centralized enforcement schedules.</a:t>
            </a:r>
            <a:endParaRPr lang="en-US" sz="900" dirty="0"/>
          </a:p>
        </p:txBody>
      </p:sp>
      <p:sp>
        <p:nvSpPr>
          <p:cNvPr id="5" name="Shape 3"/>
          <p:cNvSpPr/>
          <p:nvPr/>
        </p:nvSpPr>
        <p:spPr>
          <a:xfrm>
            <a:off x="3364992" y="1143000"/>
            <a:ext cx="2414016" cy="3474720"/>
          </a:xfrm>
          <a:prstGeom prst="roundRect">
            <a:avLst>
              <a:gd name="adj" fmla="val 3030"/>
            </a:avLst>
          </a:prstGeom>
          <a:solidFill>
            <a:srgbClr val="1E293B"/>
          </a:solidFill>
          <a:ln w="12700">
            <a:solidFill>
              <a:srgbClr val="334155"/>
            </a:solidFill>
            <a:prstDash val="solid"/>
          </a:ln>
        </p:spPr>
      </p:sp>
      <p:sp>
        <p:nvSpPr>
          <p:cNvPr id="6" name="Text 4"/>
          <p:cNvSpPr/>
          <p:nvPr/>
        </p:nvSpPr>
        <p:spPr>
          <a:xfrm>
            <a:off x="3511296"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F59E0B"/>
                </a:solidFill>
                <a:latin typeface="Arial" pitchFamily="34" charset="0"/>
                <a:ea typeface="Arial" pitchFamily="34" charset="-122"/>
                <a:cs typeface="Arial" pitchFamily="34" charset="-120"/>
              </a:rPr>
              <a:t>FACILITY GOVERNANCE</a:t>
            </a:r>
            <a:endParaRPr lang="en-US" sz="900" dirty="0"/>
          </a:p>
          <a:p>
            <a:pPr indent="0" marL="0">
              <a:spcAft>
                <a:spcPts val="800"/>
              </a:spcAft>
              <a:buNone/>
            </a:pPr>
            <a:r>
              <a:rPr lang="en-US" sz="1400" b="1" dirty="0">
                <a:solidFill>
                  <a:srgbClr val="F8FAFC"/>
                </a:solidFill>
                <a:latin typeface="Arial" pitchFamily="34" charset="0"/>
                <a:ea typeface="Arial" pitchFamily="34" charset="-122"/>
                <a:cs typeface="Arial" pitchFamily="34" charset="-120"/>
              </a:rPr>
              <a:t>Manual Facility Auditing</a:t>
            </a:r>
            <a:endParaRPr lang="en-US" sz="900" dirty="0"/>
          </a:p>
          <a:p>
            <a:pPr indent="0" marL="0">
              <a:spcAft>
                <a:spcPts val="200"/>
              </a:spcAft>
              <a:buNone/>
            </a:pPr>
            <a:r>
              <a:rPr lang="en-US" sz="2600" b="1" dirty="0">
                <a:solidFill>
                  <a:srgbClr val="F59E0B"/>
                </a:solidFill>
                <a:latin typeface="Arial" pitchFamily="34" charset="0"/>
                <a:ea typeface="Arial" pitchFamily="34" charset="-122"/>
                <a:cs typeface="Arial" pitchFamily="34" charset="-120"/>
              </a:rPr>
              <a:t>0 Logs</a:t>
            </a:r>
            <a:endParaRPr lang="en-US" sz="90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Zero Historical Runtime Auditability</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Nigerian commercial facilities rely predominantly on manual physical inspection rounds conducted by security personnel or caretakers.</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Routine human oversight results in uncorrected loads, complete lack of structured audit trails, untracked energy use, and delayed fault detection.</a:t>
            </a:r>
            <a:endParaRPr lang="en-US" sz="900" dirty="0"/>
          </a:p>
        </p:txBody>
      </p:sp>
      <p:sp>
        <p:nvSpPr>
          <p:cNvPr id="7" name="Shape 5"/>
          <p:cNvSpPr/>
          <p:nvPr/>
        </p:nvSpPr>
        <p:spPr>
          <a:xfrm>
            <a:off x="5998464" y="1143000"/>
            <a:ext cx="2414016" cy="3474720"/>
          </a:xfrm>
          <a:prstGeom prst="roundRect">
            <a:avLst>
              <a:gd name="adj" fmla="val 3030"/>
            </a:avLst>
          </a:prstGeom>
          <a:solidFill>
            <a:srgbClr val="1E293B"/>
          </a:solidFill>
          <a:ln w="12700">
            <a:solidFill>
              <a:srgbClr val="334155"/>
            </a:solidFill>
            <a:prstDash val="solid"/>
          </a:ln>
        </p:spPr>
      </p:sp>
      <p:sp>
        <p:nvSpPr>
          <p:cNvPr id="8" name="Text 6"/>
          <p:cNvSpPr/>
          <p:nvPr/>
        </p:nvSpPr>
        <p:spPr>
          <a:xfrm>
            <a:off x="6144768"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TARIFF REALITIES</a:t>
            </a:r>
            <a:endParaRPr lang="en-US" sz="900" dirty="0"/>
          </a:p>
          <a:p>
            <a:pPr indent="0" marL="0">
              <a:spcAft>
                <a:spcPts val="800"/>
              </a:spcAft>
              <a:buNone/>
            </a:pPr>
            <a:r>
              <a:rPr lang="en-US" sz="1400" b="1" dirty="0">
                <a:solidFill>
                  <a:srgbClr val="F8FAFC"/>
                </a:solidFill>
                <a:latin typeface="Arial" pitchFamily="34" charset="0"/>
                <a:ea typeface="Arial" pitchFamily="34" charset="-122"/>
                <a:cs typeface="Arial" pitchFamily="34" charset="-120"/>
              </a:rPr>
              <a:t>Tariff Pressures &amp; Deficits</a:t>
            </a:r>
            <a:endParaRPr lang="en-US" sz="900" dirty="0"/>
          </a:p>
          <a:p>
            <a:pPr indent="0" marL="0">
              <a:spcAft>
                <a:spcPts val="200"/>
              </a:spcAft>
              <a:buNone/>
            </a:pPr>
            <a:r>
              <a:rPr lang="en-US" sz="2600" b="1" dirty="0">
                <a:solidFill>
                  <a:srgbClr val="0EA5E9"/>
                </a:solidFill>
                <a:latin typeface="Arial" pitchFamily="34" charset="0"/>
                <a:ea typeface="Arial" pitchFamily="34" charset="-122"/>
                <a:cs typeface="Arial" pitchFamily="34" charset="-120"/>
              </a:rPr>
              <a:t>₦209.5</a:t>
            </a:r>
            <a:endParaRPr lang="en-US" sz="90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NERC Kaduna Electric Band A / kWh</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Band A commercial electricity tariffs leave zero financial margin for unmetered appliance runtime and unmonitored operational waste.</a:t>
            </a:r>
            <a:endParaRPr lang="en-US" sz="900" dirty="0"/>
          </a:p>
          <a:p>
            <a:pPr marL="342900" indent="-342900">
              <a:spcAft>
                <a:spcPts val="600"/>
              </a:spcAft>
              <a:buSzPct val="100000"/>
              <a:buChar char="•"/>
            </a:pPr>
            <a:r>
              <a:rPr lang="en-US" sz="900" dirty="0">
                <a:solidFill>
                  <a:srgbClr val="94A3B8"/>
                </a:solidFill>
                <a:latin typeface="Arial" pitchFamily="34" charset="0"/>
                <a:ea typeface="Arial" pitchFamily="34" charset="-122"/>
                <a:cs typeface="Arial" pitchFamily="34" charset="-120"/>
              </a:rPr>
              <a:t>Chronic electrical power instability demands autonomous state recovery, local switch persistence, and rigorous load visibility.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PROJECT PROPOSAL CONTRACT</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Research Objectives</a:t>
            </a:r>
            <a:endParaRPr lang="en-US" sz="950" dirty="0"/>
          </a:p>
        </p:txBody>
      </p:sp>
      <p:sp>
        <p:nvSpPr>
          <p:cNvPr id="3" name="Shape 1"/>
          <p:cNvSpPr/>
          <p:nvPr/>
        </p:nvSpPr>
        <p:spPr>
          <a:xfrm>
            <a:off x="731520" y="1115568"/>
            <a:ext cx="7680960" cy="594360"/>
          </a:xfrm>
          <a:prstGeom prst="roundRect">
            <a:avLst>
              <a:gd name="adj" fmla="val 12308"/>
            </a:avLst>
          </a:prstGeom>
          <a:solidFill>
            <a:srgbClr val="1E293B"/>
          </a:solidFill>
          <a:ln w="12700">
            <a:solidFill>
              <a:srgbClr val="334155"/>
            </a:solidFill>
            <a:prstDash val="solid"/>
          </a:ln>
        </p:spPr>
      </p:sp>
      <p:sp>
        <p:nvSpPr>
          <p:cNvPr id="4" name="Shape 2"/>
          <p:cNvSpPr/>
          <p:nvPr/>
        </p:nvSpPr>
        <p:spPr>
          <a:xfrm>
            <a:off x="868680" y="1225296"/>
            <a:ext cx="777240" cy="374904"/>
          </a:xfrm>
          <a:prstGeom prst="roundRect">
            <a:avLst>
              <a:gd name="adj" fmla="val 14634"/>
            </a:avLst>
          </a:prstGeom>
          <a:solidFill>
            <a:srgbClr val="334155"/>
          </a:solidFill>
          <a:ln w="12700">
            <a:solidFill>
              <a:srgbClr val="334155"/>
            </a:solidFill>
            <a:prstDash val="solid"/>
          </a:ln>
        </p:spPr>
      </p:sp>
      <p:sp>
        <p:nvSpPr>
          <p:cNvPr id="5" name="Text 3"/>
          <p:cNvSpPr/>
          <p:nvPr/>
        </p:nvSpPr>
        <p:spPr>
          <a:xfrm>
            <a:off x="868680" y="1225296"/>
            <a:ext cx="777240" cy="374904"/>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OBJ I</a:t>
            </a:r>
            <a:endParaRPr lang="en-US" sz="1000" dirty="0"/>
          </a:p>
        </p:txBody>
      </p:sp>
      <p:sp>
        <p:nvSpPr>
          <p:cNvPr id="6" name="Text 4"/>
          <p:cNvSpPr/>
          <p:nvPr/>
        </p:nvSpPr>
        <p:spPr>
          <a:xfrm>
            <a:off x="1783080" y="1207008"/>
            <a:ext cx="6492240" cy="411480"/>
          </a:xfrm>
          <a:prstGeom prst="rect">
            <a:avLst/>
          </a:prstGeom>
          <a:noFill/>
          <a:ln/>
        </p:spPr>
        <p:txBody>
          <a:bodyPr wrap="square" lIns="0" tIns="0" rIns="0" bIns="0" rtlCol="0" anchor="t"/>
          <a:lstStyle/>
          <a:p>
            <a:pPr indent="0" marL="0">
              <a:spcAft>
                <a:spcPts val="200"/>
              </a:spcAft>
              <a:buNone/>
            </a:pPr>
            <a:r>
              <a:rPr lang="en-US" sz="1050" b="1" dirty="0">
                <a:solidFill>
                  <a:srgbClr val="F8FAFC"/>
                </a:solidFill>
                <a:latin typeface="Arial" pitchFamily="34" charset="0"/>
                <a:ea typeface="Arial" pitchFamily="34" charset="-122"/>
                <a:cs typeface="Arial" pitchFamily="34" charset="-120"/>
              </a:rPr>
              <a:t>Construct Embedded Hardware Switching Module</a:t>
            </a:r>
            <a:endParaRPr lang="en-US" sz="1050" dirty="0"/>
          </a:p>
          <a:p>
            <a:pPr indent="0" marL="0">
              <a:buNone/>
            </a:pPr>
            <a:r>
              <a:rPr lang="en-US" sz="880" dirty="0">
                <a:solidFill>
                  <a:srgbClr val="94A3B8"/>
                </a:solidFill>
                <a:latin typeface="Arial" pitchFamily="34" charset="0"/>
                <a:ea typeface="Arial" pitchFamily="34" charset="-122"/>
                <a:cs typeface="Arial" pitchFamily="34" charset="-120"/>
              </a:rPr>
              <a:t>Construct an embedded microcontroller hardware switching module utilizing optocoupler isolation, flyback diode protection, and dual physical/digital input switching.</a:t>
            </a:r>
            <a:endParaRPr lang="en-US" sz="1050" dirty="0"/>
          </a:p>
        </p:txBody>
      </p:sp>
      <p:sp>
        <p:nvSpPr>
          <p:cNvPr id="7" name="Shape 5"/>
          <p:cNvSpPr/>
          <p:nvPr/>
        </p:nvSpPr>
        <p:spPr>
          <a:xfrm>
            <a:off x="731520" y="1792224"/>
            <a:ext cx="7680960" cy="594360"/>
          </a:xfrm>
          <a:prstGeom prst="roundRect">
            <a:avLst>
              <a:gd name="adj" fmla="val 12308"/>
            </a:avLst>
          </a:prstGeom>
          <a:solidFill>
            <a:srgbClr val="1E293B"/>
          </a:solidFill>
          <a:ln w="12700">
            <a:solidFill>
              <a:srgbClr val="334155"/>
            </a:solidFill>
            <a:prstDash val="solid"/>
          </a:ln>
        </p:spPr>
      </p:sp>
      <p:sp>
        <p:nvSpPr>
          <p:cNvPr id="8" name="Shape 6"/>
          <p:cNvSpPr/>
          <p:nvPr/>
        </p:nvSpPr>
        <p:spPr>
          <a:xfrm>
            <a:off x="868680" y="1901952"/>
            <a:ext cx="777240" cy="374904"/>
          </a:xfrm>
          <a:prstGeom prst="roundRect">
            <a:avLst>
              <a:gd name="adj" fmla="val 14634"/>
            </a:avLst>
          </a:prstGeom>
          <a:solidFill>
            <a:srgbClr val="334155"/>
          </a:solidFill>
          <a:ln w="12700">
            <a:solidFill>
              <a:srgbClr val="334155"/>
            </a:solidFill>
            <a:prstDash val="solid"/>
          </a:ln>
        </p:spPr>
      </p:sp>
      <p:sp>
        <p:nvSpPr>
          <p:cNvPr id="9" name="Text 7"/>
          <p:cNvSpPr/>
          <p:nvPr/>
        </p:nvSpPr>
        <p:spPr>
          <a:xfrm>
            <a:off x="868680" y="1901952"/>
            <a:ext cx="777240" cy="374904"/>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OBJ II</a:t>
            </a:r>
            <a:endParaRPr lang="en-US" sz="1000" dirty="0"/>
          </a:p>
        </p:txBody>
      </p:sp>
      <p:sp>
        <p:nvSpPr>
          <p:cNvPr id="10" name="Text 8"/>
          <p:cNvSpPr/>
          <p:nvPr/>
        </p:nvSpPr>
        <p:spPr>
          <a:xfrm>
            <a:off x="1783080" y="1883664"/>
            <a:ext cx="6492240" cy="411480"/>
          </a:xfrm>
          <a:prstGeom prst="rect">
            <a:avLst/>
          </a:prstGeom>
          <a:noFill/>
          <a:ln/>
        </p:spPr>
        <p:txBody>
          <a:bodyPr wrap="square" lIns="0" tIns="0" rIns="0" bIns="0" rtlCol="0" anchor="t"/>
          <a:lstStyle/>
          <a:p>
            <a:pPr indent="0" marL="0">
              <a:spcAft>
                <a:spcPts val="200"/>
              </a:spcAft>
              <a:buNone/>
            </a:pPr>
            <a:r>
              <a:rPr lang="en-US" sz="1050" b="1" dirty="0">
                <a:solidFill>
                  <a:srgbClr val="F8FAFC"/>
                </a:solidFill>
                <a:latin typeface="Arial" pitchFamily="34" charset="0"/>
                <a:ea typeface="Arial" pitchFamily="34" charset="-122"/>
                <a:cs typeface="Arial" pitchFamily="34" charset="-120"/>
              </a:rPr>
              <a:t>Implement Bi-Directional MQTT Telemetry Pipeline</a:t>
            </a:r>
            <a:endParaRPr lang="en-US" sz="1050" dirty="0"/>
          </a:p>
          <a:p>
            <a:pPr indent="0" marL="0">
              <a:buNone/>
            </a:pPr>
            <a:r>
              <a:rPr lang="en-US" sz="880" dirty="0">
                <a:solidFill>
                  <a:srgbClr val="94A3B8"/>
                </a:solidFill>
                <a:latin typeface="Arial" pitchFamily="34" charset="0"/>
                <a:ea typeface="Arial" pitchFamily="34" charset="-122"/>
                <a:cs typeface="Arial" pitchFamily="34" charset="-120"/>
              </a:rPr>
              <a:t>Implement a lightweight, bi-directional IoT messaging pipeline over MQTT with QoS 1 telemetry, per-device topic isolation, and Last Will and Testament status tracking.</a:t>
            </a:r>
            <a:endParaRPr lang="en-US" sz="1050" dirty="0"/>
          </a:p>
        </p:txBody>
      </p:sp>
      <p:sp>
        <p:nvSpPr>
          <p:cNvPr id="11" name="Shape 9"/>
          <p:cNvSpPr/>
          <p:nvPr/>
        </p:nvSpPr>
        <p:spPr>
          <a:xfrm>
            <a:off x="731520" y="2468880"/>
            <a:ext cx="7680960" cy="594360"/>
          </a:xfrm>
          <a:prstGeom prst="roundRect">
            <a:avLst>
              <a:gd name="adj" fmla="val 12308"/>
            </a:avLst>
          </a:prstGeom>
          <a:solidFill>
            <a:srgbClr val="1E293B"/>
          </a:solidFill>
          <a:ln w="12700">
            <a:solidFill>
              <a:srgbClr val="334155"/>
            </a:solidFill>
            <a:prstDash val="solid"/>
          </a:ln>
        </p:spPr>
      </p:sp>
      <p:sp>
        <p:nvSpPr>
          <p:cNvPr id="12" name="Shape 10"/>
          <p:cNvSpPr/>
          <p:nvPr/>
        </p:nvSpPr>
        <p:spPr>
          <a:xfrm>
            <a:off x="868680" y="2578608"/>
            <a:ext cx="777240" cy="374904"/>
          </a:xfrm>
          <a:prstGeom prst="roundRect">
            <a:avLst>
              <a:gd name="adj" fmla="val 14634"/>
            </a:avLst>
          </a:prstGeom>
          <a:solidFill>
            <a:srgbClr val="334155"/>
          </a:solidFill>
          <a:ln w="12700">
            <a:solidFill>
              <a:srgbClr val="334155"/>
            </a:solidFill>
            <a:prstDash val="solid"/>
          </a:ln>
        </p:spPr>
      </p:sp>
      <p:sp>
        <p:nvSpPr>
          <p:cNvPr id="13" name="Text 11"/>
          <p:cNvSpPr/>
          <p:nvPr/>
        </p:nvSpPr>
        <p:spPr>
          <a:xfrm>
            <a:off x="868680" y="2578608"/>
            <a:ext cx="777240" cy="374904"/>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OBJ III</a:t>
            </a:r>
            <a:endParaRPr lang="en-US" sz="1000" dirty="0"/>
          </a:p>
        </p:txBody>
      </p:sp>
      <p:sp>
        <p:nvSpPr>
          <p:cNvPr id="14" name="Text 12"/>
          <p:cNvSpPr/>
          <p:nvPr/>
        </p:nvSpPr>
        <p:spPr>
          <a:xfrm>
            <a:off x="1783080" y="2560320"/>
            <a:ext cx="6492240" cy="411480"/>
          </a:xfrm>
          <a:prstGeom prst="rect">
            <a:avLst/>
          </a:prstGeom>
          <a:noFill/>
          <a:ln/>
        </p:spPr>
        <p:txBody>
          <a:bodyPr wrap="square" lIns="0" tIns="0" rIns="0" bIns="0" rtlCol="0" anchor="t"/>
          <a:lstStyle/>
          <a:p>
            <a:pPr indent="0" marL="0">
              <a:spcAft>
                <a:spcPts val="200"/>
              </a:spcAft>
              <a:buNone/>
            </a:pPr>
            <a:r>
              <a:rPr lang="en-US" sz="1050" b="1" dirty="0">
                <a:solidFill>
                  <a:srgbClr val="F8FAFC"/>
                </a:solidFill>
                <a:latin typeface="Arial" pitchFamily="34" charset="0"/>
                <a:ea typeface="Arial" pitchFamily="34" charset="-122"/>
                <a:cs typeface="Arial" pitchFamily="34" charset="-120"/>
              </a:rPr>
              <a:t>Engineer Single-Authority Arbitration &amp; NVS Recovery</a:t>
            </a:r>
            <a:endParaRPr lang="en-US" sz="1050" dirty="0"/>
          </a:p>
          <a:p>
            <a:pPr indent="0" marL="0">
              <a:buNone/>
            </a:pPr>
            <a:r>
              <a:rPr lang="en-US" sz="880" dirty="0">
                <a:solidFill>
                  <a:srgbClr val="94A3B8"/>
                </a:solidFill>
                <a:latin typeface="Arial" pitchFamily="34" charset="0"/>
                <a:ea typeface="Arial" pitchFamily="34" charset="-122"/>
                <a:cs typeface="Arial" pitchFamily="34" charset="-120"/>
              </a:rPr>
              <a:t>Engineer a single-authority hardware arbitration engine with 1000ms debounce protection, conflict resolution, and non-volatile flash (Preferences NVS) state recovery.</a:t>
            </a:r>
            <a:endParaRPr lang="en-US" sz="1050" dirty="0"/>
          </a:p>
        </p:txBody>
      </p:sp>
      <p:sp>
        <p:nvSpPr>
          <p:cNvPr id="15" name="Shape 13"/>
          <p:cNvSpPr/>
          <p:nvPr/>
        </p:nvSpPr>
        <p:spPr>
          <a:xfrm>
            <a:off x="731520" y="3145536"/>
            <a:ext cx="7680960" cy="594360"/>
          </a:xfrm>
          <a:prstGeom prst="roundRect">
            <a:avLst>
              <a:gd name="adj" fmla="val 12308"/>
            </a:avLst>
          </a:prstGeom>
          <a:solidFill>
            <a:srgbClr val="1E293B"/>
          </a:solidFill>
          <a:ln w="12700">
            <a:solidFill>
              <a:srgbClr val="334155"/>
            </a:solidFill>
            <a:prstDash val="solid"/>
          </a:ln>
        </p:spPr>
      </p:sp>
      <p:sp>
        <p:nvSpPr>
          <p:cNvPr id="16" name="Shape 14"/>
          <p:cNvSpPr/>
          <p:nvPr/>
        </p:nvSpPr>
        <p:spPr>
          <a:xfrm>
            <a:off x="868680" y="3255264"/>
            <a:ext cx="777240" cy="374904"/>
          </a:xfrm>
          <a:prstGeom prst="roundRect">
            <a:avLst>
              <a:gd name="adj" fmla="val 14634"/>
            </a:avLst>
          </a:prstGeom>
          <a:solidFill>
            <a:srgbClr val="334155"/>
          </a:solidFill>
          <a:ln w="12700">
            <a:solidFill>
              <a:srgbClr val="334155"/>
            </a:solidFill>
            <a:prstDash val="solid"/>
          </a:ln>
        </p:spPr>
      </p:sp>
      <p:sp>
        <p:nvSpPr>
          <p:cNvPr id="17" name="Text 15"/>
          <p:cNvSpPr/>
          <p:nvPr/>
        </p:nvSpPr>
        <p:spPr>
          <a:xfrm>
            <a:off x="868680" y="3255264"/>
            <a:ext cx="777240" cy="374904"/>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OBJ IV</a:t>
            </a:r>
            <a:endParaRPr lang="en-US" sz="1000" dirty="0"/>
          </a:p>
        </p:txBody>
      </p:sp>
      <p:sp>
        <p:nvSpPr>
          <p:cNvPr id="18" name="Text 16"/>
          <p:cNvSpPr/>
          <p:nvPr/>
        </p:nvSpPr>
        <p:spPr>
          <a:xfrm>
            <a:off x="1783080" y="3236976"/>
            <a:ext cx="6492240" cy="411480"/>
          </a:xfrm>
          <a:prstGeom prst="rect">
            <a:avLst/>
          </a:prstGeom>
          <a:noFill/>
          <a:ln/>
        </p:spPr>
        <p:txBody>
          <a:bodyPr wrap="square" lIns="0" tIns="0" rIns="0" bIns="0" rtlCol="0" anchor="t"/>
          <a:lstStyle/>
          <a:p>
            <a:pPr indent="0" marL="0">
              <a:spcAft>
                <a:spcPts val="200"/>
              </a:spcAft>
              <a:buNone/>
            </a:pPr>
            <a:r>
              <a:rPr lang="en-US" sz="1050" b="1" dirty="0">
                <a:solidFill>
                  <a:srgbClr val="F8FAFC"/>
                </a:solidFill>
                <a:latin typeface="Arial" pitchFamily="34" charset="0"/>
                <a:ea typeface="Arial" pitchFamily="34" charset="-122"/>
                <a:cs typeface="Arial" pitchFamily="34" charset="-120"/>
              </a:rPr>
              <a:t>Develop Accessible Web Application &amp; Async Backend</a:t>
            </a:r>
            <a:endParaRPr lang="en-US" sz="1050" dirty="0"/>
          </a:p>
          <a:p>
            <a:pPr indent="0" marL="0">
              <a:buNone/>
            </a:pPr>
            <a:r>
              <a:rPr lang="en-US" sz="880" dirty="0">
                <a:solidFill>
                  <a:srgbClr val="94A3B8"/>
                </a:solidFill>
                <a:latin typeface="Arial" pitchFamily="34" charset="0"/>
                <a:ea typeface="Arial" pitchFamily="34" charset="-122"/>
                <a:cs typeface="Arial" pitchFamily="34" charset="-120"/>
              </a:rPr>
              <a:t>Develop an accessible, responsive web application (React 19 + Tailwind CSS) and async REST/WebSocket backend (FastAPI) providing live synchronization and role-based administration.</a:t>
            </a:r>
            <a:endParaRPr lang="en-US" sz="1050" dirty="0"/>
          </a:p>
        </p:txBody>
      </p:sp>
      <p:sp>
        <p:nvSpPr>
          <p:cNvPr id="19" name="Shape 17"/>
          <p:cNvSpPr/>
          <p:nvPr/>
        </p:nvSpPr>
        <p:spPr>
          <a:xfrm>
            <a:off x="731520" y="3822192"/>
            <a:ext cx="7680960" cy="594360"/>
          </a:xfrm>
          <a:prstGeom prst="roundRect">
            <a:avLst>
              <a:gd name="adj" fmla="val 12308"/>
            </a:avLst>
          </a:prstGeom>
          <a:solidFill>
            <a:srgbClr val="1E293B"/>
          </a:solidFill>
          <a:ln w="12700">
            <a:solidFill>
              <a:srgbClr val="334155"/>
            </a:solidFill>
            <a:prstDash val="solid"/>
          </a:ln>
        </p:spPr>
      </p:sp>
      <p:sp>
        <p:nvSpPr>
          <p:cNvPr id="20" name="Shape 18"/>
          <p:cNvSpPr/>
          <p:nvPr/>
        </p:nvSpPr>
        <p:spPr>
          <a:xfrm>
            <a:off x="868680" y="3931920"/>
            <a:ext cx="777240" cy="374904"/>
          </a:xfrm>
          <a:prstGeom prst="roundRect">
            <a:avLst>
              <a:gd name="adj" fmla="val 14634"/>
            </a:avLst>
          </a:prstGeom>
          <a:solidFill>
            <a:srgbClr val="334155"/>
          </a:solidFill>
          <a:ln w="12700">
            <a:solidFill>
              <a:srgbClr val="334155"/>
            </a:solidFill>
            <a:prstDash val="solid"/>
          </a:ln>
        </p:spPr>
      </p:sp>
      <p:sp>
        <p:nvSpPr>
          <p:cNvPr id="21" name="Text 19"/>
          <p:cNvSpPr/>
          <p:nvPr/>
        </p:nvSpPr>
        <p:spPr>
          <a:xfrm>
            <a:off x="868680" y="3931920"/>
            <a:ext cx="777240" cy="374904"/>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OBJ V</a:t>
            </a:r>
            <a:endParaRPr lang="en-US" sz="1000" dirty="0"/>
          </a:p>
        </p:txBody>
      </p:sp>
      <p:sp>
        <p:nvSpPr>
          <p:cNvPr id="22" name="Text 20"/>
          <p:cNvSpPr/>
          <p:nvPr/>
        </p:nvSpPr>
        <p:spPr>
          <a:xfrm>
            <a:off x="1783080" y="3913632"/>
            <a:ext cx="6492240" cy="411480"/>
          </a:xfrm>
          <a:prstGeom prst="rect">
            <a:avLst/>
          </a:prstGeom>
          <a:noFill/>
          <a:ln/>
        </p:spPr>
        <p:txBody>
          <a:bodyPr wrap="square" lIns="0" tIns="0" rIns="0" bIns="0" rtlCol="0" anchor="t"/>
          <a:lstStyle/>
          <a:p>
            <a:pPr indent="0" marL="0">
              <a:spcAft>
                <a:spcPts val="200"/>
              </a:spcAft>
              <a:buNone/>
            </a:pPr>
            <a:r>
              <a:rPr lang="en-US" sz="1050" b="1" dirty="0">
                <a:solidFill>
                  <a:srgbClr val="F8FAFC"/>
                </a:solidFill>
                <a:latin typeface="Arial" pitchFamily="34" charset="0"/>
                <a:ea typeface="Arial" pitchFamily="34" charset="-122"/>
                <a:cs typeface="Arial" pitchFamily="34" charset="-120"/>
              </a:rPr>
              <a:t>Formulate Band A Energy Model &amp; Benchmark Performance</a:t>
            </a:r>
            <a:endParaRPr lang="en-US" sz="1050" dirty="0"/>
          </a:p>
          <a:p>
            <a:pPr indent="0" marL="0">
              <a:buNone/>
            </a:pPr>
            <a:r>
              <a:rPr lang="en-US" sz="880" dirty="0">
                <a:solidFill>
                  <a:srgbClr val="94A3B8"/>
                </a:solidFill>
                <a:latin typeface="Arial" pitchFamily="34" charset="0"/>
                <a:ea typeface="Arial" pitchFamily="34" charset="-122"/>
                <a:cs typeface="Arial" pitchFamily="34" charset="-120"/>
              </a:rPr>
              <a:t>Formulate an empirical Kaduna Electric Band A energy estimation model and rigorously evaluate system latency, synchronization, and fault degradation against sub-500ms targets.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END-TO-END DISTRIBUTED PIPELINE</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Proposed System Architecture &amp; Dataflow</a:t>
            </a:r>
            <a:endParaRPr lang="en-US" sz="950" dirty="0"/>
          </a:p>
        </p:txBody>
      </p:sp>
      <p:sp>
        <p:nvSpPr>
          <p:cNvPr id="3" name="Shape 1"/>
          <p:cNvSpPr/>
          <p:nvPr/>
        </p:nvSpPr>
        <p:spPr>
          <a:xfrm>
            <a:off x="731520" y="1143000"/>
            <a:ext cx="1783080" cy="3474720"/>
          </a:xfrm>
          <a:prstGeom prst="roundRect">
            <a:avLst>
              <a:gd name="adj" fmla="val 4103"/>
            </a:avLst>
          </a:prstGeom>
          <a:solidFill>
            <a:srgbClr val="1E293B"/>
          </a:solidFill>
          <a:ln w="12700">
            <a:solidFill>
              <a:srgbClr val="334155"/>
            </a:solidFill>
            <a:prstDash val="solid"/>
          </a:ln>
        </p:spPr>
      </p:sp>
      <p:sp>
        <p:nvSpPr>
          <p:cNvPr id="4" name="Text 2"/>
          <p:cNvSpPr/>
          <p:nvPr/>
        </p:nvSpPr>
        <p:spPr>
          <a:xfrm>
            <a:off x="85953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0EA5E9"/>
                </a:solidFill>
                <a:latin typeface="Arial" pitchFamily="34" charset="0"/>
                <a:ea typeface="Arial" pitchFamily="34" charset="-122"/>
                <a:cs typeface="Arial" pitchFamily="34" charset="-120"/>
              </a:rPr>
              <a:t>TIER 1</a:t>
            </a:r>
            <a:endParaRPr lang="en-US" sz="850" dirty="0"/>
          </a:p>
          <a:p>
            <a:pPr indent="0" marL="0">
              <a:spcAft>
                <a:spcPts val="200"/>
              </a:spcAft>
              <a:buNone/>
            </a:pPr>
            <a:r>
              <a:rPr lang="en-US" sz="1350" b="1" dirty="0">
                <a:solidFill>
                  <a:srgbClr val="F8FAFC"/>
                </a:solidFill>
                <a:latin typeface="Arial" pitchFamily="34" charset="0"/>
                <a:ea typeface="Arial" pitchFamily="34" charset="-122"/>
                <a:cs typeface="Arial" pitchFamily="34" charset="-120"/>
              </a:rPr>
              <a:t>Edge Hardware</a:t>
            </a:r>
            <a:endParaRPr lang="en-US" sz="85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Microcontroller Layer</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ESP32-WROOM-32 (240MHz, 520KB SRAM)</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4-Channel Relays (GPIO 16–19)</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Wall Switches (GPIO 32–35)</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Preferences NVS Flash Persistence</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PC817 Galvanic Optoisolation</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Outbound TLS MQTTS Only</a:t>
            </a:r>
            <a:endParaRPr lang="en-US" sz="850" dirty="0"/>
          </a:p>
        </p:txBody>
      </p:sp>
      <p:sp>
        <p:nvSpPr>
          <p:cNvPr id="5" name="Shape 3"/>
          <p:cNvSpPr/>
          <p:nvPr/>
        </p:nvSpPr>
        <p:spPr>
          <a:xfrm>
            <a:off x="2697480" y="1143000"/>
            <a:ext cx="1783080" cy="3474720"/>
          </a:xfrm>
          <a:prstGeom prst="roundRect">
            <a:avLst>
              <a:gd name="adj" fmla="val 4103"/>
            </a:avLst>
          </a:prstGeom>
          <a:solidFill>
            <a:srgbClr val="1E293B"/>
          </a:solidFill>
          <a:ln w="12700">
            <a:solidFill>
              <a:srgbClr val="334155"/>
            </a:solidFill>
            <a:prstDash val="solid"/>
          </a:ln>
        </p:spPr>
      </p:sp>
      <p:sp>
        <p:nvSpPr>
          <p:cNvPr id="6" name="Text 4"/>
          <p:cNvSpPr/>
          <p:nvPr/>
        </p:nvSpPr>
        <p:spPr>
          <a:xfrm>
            <a:off x="282549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10B981"/>
                </a:solidFill>
                <a:latin typeface="Arial" pitchFamily="34" charset="0"/>
                <a:ea typeface="Arial" pitchFamily="34" charset="-122"/>
                <a:cs typeface="Arial" pitchFamily="34" charset="-120"/>
              </a:rPr>
              <a:t>TIER 2</a:t>
            </a:r>
            <a:endParaRPr lang="en-US" sz="850" dirty="0"/>
          </a:p>
          <a:p>
            <a:pPr indent="0" marL="0">
              <a:spcAft>
                <a:spcPts val="200"/>
              </a:spcAft>
              <a:buNone/>
            </a:pPr>
            <a:r>
              <a:rPr lang="en-US" sz="1350" b="1" dirty="0">
                <a:solidFill>
                  <a:srgbClr val="F8FAFC"/>
                </a:solidFill>
                <a:latin typeface="Arial" pitchFamily="34" charset="0"/>
                <a:ea typeface="Arial" pitchFamily="34" charset="-122"/>
                <a:cs typeface="Arial" pitchFamily="34" charset="-120"/>
              </a:rPr>
              <a:t>Message Broker</a:t>
            </a:r>
            <a:endParaRPr lang="en-US" sz="85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MQTTS Ingestion Hub</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Eclipse Mosquitto 2.x Broker</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Port 8883 (TLS Encrypted)</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Topic: office/&lt;id&gt;/command</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Topic: office/&lt;id&gt;/state</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LWT: office/&lt;id&gt;/status</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Per-Device ACL Isolation</a:t>
            </a:r>
            <a:endParaRPr lang="en-US" sz="850" dirty="0"/>
          </a:p>
        </p:txBody>
      </p:sp>
      <p:sp>
        <p:nvSpPr>
          <p:cNvPr id="7" name="Shape 5"/>
          <p:cNvSpPr/>
          <p:nvPr/>
        </p:nvSpPr>
        <p:spPr>
          <a:xfrm>
            <a:off x="4663440" y="1143000"/>
            <a:ext cx="1783080" cy="3474720"/>
          </a:xfrm>
          <a:prstGeom prst="roundRect">
            <a:avLst>
              <a:gd name="adj" fmla="val 4103"/>
            </a:avLst>
          </a:prstGeom>
          <a:solidFill>
            <a:srgbClr val="1E293B"/>
          </a:solidFill>
          <a:ln w="12700">
            <a:solidFill>
              <a:srgbClr val="334155"/>
            </a:solidFill>
            <a:prstDash val="solid"/>
          </a:ln>
        </p:spPr>
      </p:sp>
      <p:sp>
        <p:nvSpPr>
          <p:cNvPr id="8" name="Text 6"/>
          <p:cNvSpPr/>
          <p:nvPr/>
        </p:nvSpPr>
        <p:spPr>
          <a:xfrm>
            <a:off x="479145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F59E0B"/>
                </a:solidFill>
                <a:latin typeface="Arial" pitchFamily="34" charset="0"/>
                <a:ea typeface="Arial" pitchFamily="34" charset="-122"/>
                <a:cs typeface="Arial" pitchFamily="34" charset="-120"/>
              </a:rPr>
              <a:t>TIER 3</a:t>
            </a:r>
            <a:endParaRPr lang="en-US" sz="850" dirty="0"/>
          </a:p>
          <a:p>
            <a:pPr indent="0" marL="0">
              <a:spcAft>
                <a:spcPts val="200"/>
              </a:spcAft>
              <a:buNone/>
            </a:pPr>
            <a:r>
              <a:rPr lang="en-US" sz="1350" b="1" dirty="0">
                <a:solidFill>
                  <a:srgbClr val="F8FAFC"/>
                </a:solidFill>
                <a:latin typeface="Arial" pitchFamily="34" charset="0"/>
                <a:ea typeface="Arial" pitchFamily="34" charset="-122"/>
                <a:cs typeface="Arial" pitchFamily="34" charset="-120"/>
              </a:rPr>
              <a:t>Application Core</a:t>
            </a:r>
            <a:endParaRPr lang="en-US" sz="85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FastAPI Backend</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Python 3.12 + FastAPI asyncio</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Async SQLAlchemy + SQLite WAL</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Background aiomqtt Consumer</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WebSocket Broadcast Pool</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In-Memory 1000ms Debounce</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Automated Cron Scheduler</a:t>
            </a:r>
            <a:endParaRPr lang="en-US" sz="850" dirty="0"/>
          </a:p>
        </p:txBody>
      </p:sp>
      <p:sp>
        <p:nvSpPr>
          <p:cNvPr id="9" name="Shape 7"/>
          <p:cNvSpPr/>
          <p:nvPr/>
        </p:nvSpPr>
        <p:spPr>
          <a:xfrm>
            <a:off x="6629400" y="1143000"/>
            <a:ext cx="1783080" cy="3474720"/>
          </a:xfrm>
          <a:prstGeom prst="roundRect">
            <a:avLst>
              <a:gd name="adj" fmla="val 4103"/>
            </a:avLst>
          </a:prstGeom>
          <a:solidFill>
            <a:srgbClr val="1E293B"/>
          </a:solidFill>
          <a:ln w="12700">
            <a:solidFill>
              <a:srgbClr val="334155"/>
            </a:solidFill>
            <a:prstDash val="solid"/>
          </a:ln>
        </p:spPr>
      </p:sp>
      <p:sp>
        <p:nvSpPr>
          <p:cNvPr id="10" name="Text 8"/>
          <p:cNvSpPr/>
          <p:nvPr/>
        </p:nvSpPr>
        <p:spPr>
          <a:xfrm>
            <a:off x="675741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0EA5E9"/>
                </a:solidFill>
                <a:latin typeface="Arial" pitchFamily="34" charset="0"/>
                <a:ea typeface="Arial" pitchFamily="34" charset="-122"/>
                <a:cs typeface="Arial" pitchFamily="34" charset="-120"/>
              </a:rPr>
              <a:t>TIER 4</a:t>
            </a:r>
            <a:endParaRPr lang="en-US" sz="850" dirty="0"/>
          </a:p>
          <a:p>
            <a:pPr indent="0" marL="0">
              <a:spcAft>
                <a:spcPts val="200"/>
              </a:spcAft>
              <a:buNone/>
            </a:pPr>
            <a:r>
              <a:rPr lang="en-US" sz="1350" b="1" dirty="0">
                <a:solidFill>
                  <a:srgbClr val="F8FAFC"/>
                </a:solidFill>
                <a:latin typeface="Arial" pitchFamily="34" charset="0"/>
                <a:ea typeface="Arial" pitchFamily="34" charset="-122"/>
                <a:cs typeface="Arial" pitchFamily="34" charset="-120"/>
              </a:rPr>
              <a:t>Presentation</a:t>
            </a:r>
            <a:endParaRPr lang="en-US" sz="850" dirty="0"/>
          </a:p>
          <a:p>
            <a:pPr indent="0" marL="0">
              <a:spcAft>
                <a:spcPts val="1200"/>
              </a:spcAft>
              <a:buNone/>
            </a:pPr>
            <a:r>
              <a:rPr lang="en-US" sz="850" b="1" dirty="0">
                <a:solidFill>
                  <a:srgbClr val="94A3B8"/>
                </a:solidFill>
                <a:latin typeface="Arial" pitchFamily="34" charset="0"/>
                <a:ea typeface="Arial" pitchFamily="34" charset="-122"/>
                <a:cs typeface="Arial" pitchFamily="34" charset="-120"/>
              </a:rPr>
              <a:t>Client Interface</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React 19 + TypeScript + Vite</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Tailwind CSS v4 Design Tokens</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TanStack Query v5 Direct Push</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44px Minimum Touch Targets</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Caddy Proxy + ACME TLS</a:t>
            </a:r>
            <a:endParaRPr lang="en-US" sz="850" dirty="0"/>
          </a:p>
          <a:p>
            <a:pPr marL="342900" indent="-342900">
              <a:spcAft>
                <a:spcPts val="600"/>
              </a:spcAft>
              <a:buSzPct val="100000"/>
              <a:buChar char="•"/>
            </a:pPr>
            <a:r>
              <a:rPr lang="en-US" sz="850" dirty="0">
                <a:solidFill>
                  <a:srgbClr val="94A3B8"/>
                </a:solidFill>
                <a:latin typeface="Arial" pitchFamily="34" charset="0"/>
                <a:ea typeface="Arial" pitchFamily="34" charset="-122"/>
                <a:cs typeface="Arial" pitchFamily="34" charset="-120"/>
              </a:rPr>
              <a:t>115 KB Cellular Bundle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CIRCUIT DESIGN &amp; ELECTRICAL SAFETY</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Hardware Prototype &amp; Circuit Safety</a:t>
            </a:r>
            <a:endParaRPr lang="en-US" sz="950" dirty="0"/>
          </a:p>
        </p:txBody>
      </p:sp>
      <p:sp>
        <p:nvSpPr>
          <p:cNvPr id="3" name="Shape 1"/>
          <p:cNvSpPr/>
          <p:nvPr/>
        </p:nvSpPr>
        <p:spPr>
          <a:xfrm>
            <a:off x="731520" y="1143000"/>
            <a:ext cx="3703320" cy="3474720"/>
          </a:xfrm>
          <a:prstGeom prst="roundRect">
            <a:avLst>
              <a:gd name="adj" fmla="val 2105"/>
            </a:avLst>
          </a:prstGeom>
          <a:solidFill>
            <a:srgbClr val="1E293B"/>
          </a:solidFill>
          <a:ln w="12700">
            <a:solidFill>
              <a:srgbClr val="334155"/>
            </a:solidFill>
            <a:prstDash val="solid"/>
          </a:ln>
        </p:spPr>
      </p:sp>
      <p:sp>
        <p:nvSpPr>
          <p:cNvPr id="4" name="Text 2"/>
          <p:cNvSpPr/>
          <p:nvPr/>
        </p:nvSpPr>
        <p:spPr>
          <a:xfrm>
            <a:off x="914400" y="1280160"/>
            <a:ext cx="3337560"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HARDWARE SPECIFICATIONS</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Microcontroller &amp; Switching Elements</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Espressif ESP32-WROOM-32: Dual-core 240MHz Tensilica LX6, 520KB SRAM, 4MB SPI Flash, onboard 2.4GHz 802.11 b/g/n Wi-Fi transceiver.</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Songle SRD-05VDC-SL-C Relays: 4-channel electromechanical relays rated up to 10A @ 250VAC / 30VDC, driven with active-low logic.</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Locked GPIO Contract (TRD §6): Relays mapped to GPIO 16, 17, 18, 19; physical wall switches mapped to GPIO 32, 33, 34, 35.</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Pure Input Strapping Immunity: GPIO 32–35 are pure input pins without boot strapping conflicts, preventing relay glitching during boot or brownout cycles.</a:t>
            </a:r>
            <a:endParaRPr lang="en-US" sz="900" dirty="0"/>
          </a:p>
        </p:txBody>
      </p:sp>
      <p:sp>
        <p:nvSpPr>
          <p:cNvPr id="5" name="Shape 3"/>
          <p:cNvSpPr/>
          <p:nvPr/>
        </p:nvSpPr>
        <p:spPr>
          <a:xfrm>
            <a:off x="4709160" y="1143000"/>
            <a:ext cx="3703320" cy="3474720"/>
          </a:xfrm>
          <a:prstGeom prst="roundRect">
            <a:avLst>
              <a:gd name="adj" fmla="val 2105"/>
            </a:avLst>
          </a:prstGeom>
          <a:solidFill>
            <a:srgbClr val="1E293B"/>
          </a:solidFill>
          <a:ln w="12700">
            <a:solidFill>
              <a:srgbClr val="334155"/>
            </a:solidFill>
            <a:prstDash val="solid"/>
          </a:ln>
        </p:spPr>
      </p:sp>
      <p:sp>
        <p:nvSpPr>
          <p:cNvPr id="6" name="Text 4"/>
          <p:cNvSpPr/>
          <p:nvPr/>
        </p:nvSpPr>
        <p:spPr>
          <a:xfrm>
            <a:off x="4892040" y="1280160"/>
            <a:ext cx="3337560"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10B981"/>
                </a:solidFill>
                <a:latin typeface="Arial" pitchFamily="34" charset="0"/>
                <a:ea typeface="Arial" pitchFamily="34" charset="-122"/>
                <a:cs typeface="Arial" pitchFamily="34" charset="-120"/>
              </a:rPr>
              <a:t>ELECTRICAL DEFENSE</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Galvanic Isolation &amp; Inductive Clamping</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PC817 Optocouplers: Optical air-gap barrier completely isolates sensitive 3.3V microcontroller logic from high-current 5V relay drive circuits.</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1N4007 Flyback Diodes: Positioned across inductive relay coils to immediately clamp reverse back-EMF spikes during de-energization.</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Preferences NVS Flash Persistence: Every state change commits synchronously to non-volatile flash, achieving sub-50ms post-power-outage recovery.</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Fail-Safe Physical Operation: Main firmware polling loop ensures physical wall switches actuate relays even if Wi-Fi or cloud broker is disconnected.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COMMUNICATION PROTOCOL &amp; SURVIVABILITY</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Network &amp; Resilience Architecture</a:t>
            </a:r>
            <a:endParaRPr lang="en-US" sz="950" dirty="0"/>
          </a:p>
        </p:txBody>
      </p:sp>
      <p:sp>
        <p:nvSpPr>
          <p:cNvPr id="3" name="Shape 1"/>
          <p:cNvSpPr/>
          <p:nvPr/>
        </p:nvSpPr>
        <p:spPr>
          <a:xfrm>
            <a:off x="731520" y="1143000"/>
            <a:ext cx="2414016" cy="3474720"/>
          </a:xfrm>
          <a:prstGeom prst="roundRect">
            <a:avLst>
              <a:gd name="adj" fmla="val 3030"/>
            </a:avLst>
          </a:prstGeom>
          <a:solidFill>
            <a:srgbClr val="1E293B"/>
          </a:solidFill>
          <a:ln w="12700">
            <a:solidFill>
              <a:srgbClr val="334155"/>
            </a:solidFill>
            <a:prstDash val="solid"/>
          </a:ln>
        </p:spPr>
      </p:sp>
      <p:sp>
        <p:nvSpPr>
          <p:cNvPr id="4" name="Text 2"/>
          <p:cNvSpPr/>
          <p:nvPr/>
        </p:nvSpPr>
        <p:spPr>
          <a:xfrm>
            <a:off x="877824"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TOPOLOGY</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Outbound Edge Topology</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Zero Inbound Listening Ports: ESP32 runs no local web server or open TCP ports, eliminating external network attack surfaces.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Carrier-Grade NAT Traversal: Operates seamlessly across dynamic cellular 3G/4G/5G mobile SIMs and restrictive corporate firewalls.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Outbound TLS MQTTS: Microcontroller initiates secure TLS connection to cloud broker on port 8883.</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No Port Forwarding Required: Eliminates dynamic DNS, static public IP, and firewall traversal overhead.</a:t>
            </a:r>
            <a:endParaRPr lang="en-US" sz="900" dirty="0"/>
          </a:p>
        </p:txBody>
      </p:sp>
      <p:sp>
        <p:nvSpPr>
          <p:cNvPr id="5" name="Shape 3"/>
          <p:cNvSpPr/>
          <p:nvPr/>
        </p:nvSpPr>
        <p:spPr>
          <a:xfrm>
            <a:off x="3364992" y="1143000"/>
            <a:ext cx="2414016" cy="3474720"/>
          </a:xfrm>
          <a:prstGeom prst="roundRect">
            <a:avLst>
              <a:gd name="adj" fmla="val 3030"/>
            </a:avLst>
          </a:prstGeom>
          <a:solidFill>
            <a:srgbClr val="1E293B"/>
          </a:solidFill>
          <a:ln w="12700">
            <a:solidFill>
              <a:srgbClr val="334155"/>
            </a:solidFill>
            <a:prstDash val="solid"/>
          </a:ln>
        </p:spPr>
      </p:sp>
      <p:sp>
        <p:nvSpPr>
          <p:cNvPr id="6" name="Text 4"/>
          <p:cNvSpPr/>
          <p:nvPr/>
        </p:nvSpPr>
        <p:spPr>
          <a:xfrm>
            <a:off x="3511296"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10B981"/>
                </a:solidFill>
                <a:latin typeface="Arial" pitchFamily="34" charset="0"/>
                <a:ea typeface="Arial" pitchFamily="34" charset="-122"/>
                <a:cs typeface="Arial" pitchFamily="34" charset="-120"/>
              </a:rPr>
              <a:t>RELIABILITY</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MQTT Telemetry Contracts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QoS 1 Command Delivery: office/&lt;device_id&gt;/command topic guarantees at-least-once message delivery with idempotent handling.</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QoS 1 State Telemetry: office/&lt;device_id&gt;/state publishes channel number, confirmed state, and trigger source.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Last Will &amp; Testament (LWT): Mosquitto broker publishes retained offline packet on office/&lt;device_id&gt;/status if keepalive expires.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Per-Device ACL Isolation: Hardware credentials restricted strictly to authorized device topic boundaries.</a:t>
            </a:r>
            <a:endParaRPr lang="en-US" sz="900" dirty="0"/>
          </a:p>
        </p:txBody>
      </p:sp>
      <p:sp>
        <p:nvSpPr>
          <p:cNvPr id="7" name="Shape 5"/>
          <p:cNvSpPr/>
          <p:nvPr/>
        </p:nvSpPr>
        <p:spPr>
          <a:xfrm>
            <a:off x="5998464" y="1143000"/>
            <a:ext cx="2414016" cy="3474720"/>
          </a:xfrm>
          <a:prstGeom prst="roundRect">
            <a:avLst>
              <a:gd name="adj" fmla="val 3030"/>
            </a:avLst>
          </a:prstGeom>
          <a:solidFill>
            <a:srgbClr val="1E293B"/>
          </a:solidFill>
          <a:ln w="12700">
            <a:solidFill>
              <a:srgbClr val="334155"/>
            </a:solidFill>
            <a:prstDash val="solid"/>
          </a:ln>
        </p:spPr>
      </p:sp>
      <p:sp>
        <p:nvSpPr>
          <p:cNvPr id="8" name="Text 6"/>
          <p:cNvSpPr/>
          <p:nvPr/>
        </p:nvSpPr>
        <p:spPr>
          <a:xfrm>
            <a:off x="6144768"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F59E0B"/>
                </a:solidFill>
                <a:latin typeface="Arial" pitchFamily="34" charset="0"/>
                <a:ea typeface="Arial" pitchFamily="34" charset="-122"/>
                <a:cs typeface="Arial" pitchFamily="34" charset="-120"/>
              </a:rPr>
              <a:t>SURVIVABILITY</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Microcontroller Autonomy</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Decoupled Switching Loop: Physical wall switch polling operates in a non-blocking loop independent of network socket state.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Zero Latency Degradation: Wall switches maintain immediate 0ms local response during network or cloud broker downtime.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Automated Exponential Backoff: Non-blocking background reconnect attempts occur without stalling relay actuation.</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State Sync on Recovery: Reconnected ESP32 publishes current physical state to reconcile cloud cache.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BACKEND ENGINE &amp; HARDWARE ARBITRATION</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Software Core: Backend &amp; Arbitration</a:t>
            </a:r>
            <a:endParaRPr lang="en-US" sz="950" dirty="0"/>
          </a:p>
        </p:txBody>
      </p:sp>
      <p:sp>
        <p:nvSpPr>
          <p:cNvPr id="3" name="Shape 1"/>
          <p:cNvSpPr/>
          <p:nvPr/>
        </p:nvSpPr>
        <p:spPr>
          <a:xfrm>
            <a:off x="731520" y="1143000"/>
            <a:ext cx="3703320" cy="3474720"/>
          </a:xfrm>
          <a:prstGeom prst="roundRect">
            <a:avLst>
              <a:gd name="adj" fmla="val 2105"/>
            </a:avLst>
          </a:prstGeom>
          <a:solidFill>
            <a:srgbClr val="1E293B"/>
          </a:solidFill>
          <a:ln w="12700">
            <a:solidFill>
              <a:srgbClr val="334155"/>
            </a:solidFill>
            <a:prstDash val="solid"/>
          </a:ln>
        </p:spPr>
      </p:sp>
      <p:sp>
        <p:nvSpPr>
          <p:cNvPr id="4" name="Text 2"/>
          <p:cNvSpPr/>
          <p:nvPr/>
        </p:nvSpPr>
        <p:spPr>
          <a:xfrm>
            <a:off x="914400" y="1280160"/>
            <a:ext cx="3337560"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FASTAPI ARCHITECTURE</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High-Throughput Async Service Mesh</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Python 3.12 &amp; FastAPI: High-concurrency async runtime orchestrating REST endpoints, WebSocket pools, and background MQTT workers simultaneously.</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aiosqlite &amp; SQLite WAL Mode: Write-Ahead Logging prevents read/write lock contention between high-frequency audit logs and dashboard queries.</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1000ms In-Memory Cooldown: Rate-limiting queue enforces hardware debounce contract at the API layer, dropping rapid duplicate commands.</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WebSocket Broadcast Pool: Instant state broadcasting notifies all connected web clients in under 5ms upon any confirmed appliance state change.</a:t>
            </a:r>
            <a:endParaRPr lang="en-US" sz="900" dirty="0"/>
          </a:p>
        </p:txBody>
      </p:sp>
      <p:sp>
        <p:nvSpPr>
          <p:cNvPr id="5" name="Shape 3"/>
          <p:cNvSpPr/>
          <p:nvPr/>
        </p:nvSpPr>
        <p:spPr>
          <a:xfrm>
            <a:off x="4709160" y="1143000"/>
            <a:ext cx="3703320" cy="3474720"/>
          </a:xfrm>
          <a:prstGeom prst="roundRect">
            <a:avLst>
              <a:gd name="adj" fmla="val 2105"/>
            </a:avLst>
          </a:prstGeom>
          <a:solidFill>
            <a:srgbClr val="1E293B"/>
          </a:solidFill>
          <a:ln w="12700">
            <a:solidFill>
              <a:srgbClr val="334155"/>
            </a:solidFill>
            <a:prstDash val="solid"/>
          </a:ln>
        </p:spPr>
      </p:sp>
      <p:sp>
        <p:nvSpPr>
          <p:cNvPr id="6" name="Text 4"/>
          <p:cNvSpPr/>
          <p:nvPr/>
        </p:nvSpPr>
        <p:spPr>
          <a:xfrm>
            <a:off x="4892040" y="1280160"/>
            <a:ext cx="3337560"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10B981"/>
                </a:solidFill>
                <a:latin typeface="Arial" pitchFamily="34" charset="0"/>
                <a:ea typeface="Arial" pitchFamily="34" charset="-122"/>
                <a:cs typeface="Arial" pitchFamily="34" charset="-120"/>
              </a:rPr>
              <a:t>HARDWARE ARBITRATION</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Deterministic Single-Authority Engine</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Single Source of Truth: ESP32 hardware execution loop serves as the sole arbitrating authority for relay coil states.</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Symmetric Control Convergence: Physical switch inputs and incoming MQTT network packets feed into an identical in-memory state engine.</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Most-Recent-Change-Wins (MRCW): Eliminates fragile NTP network clocks, vector clocks, or distributed consensus protocols across edge and cloud.</a:t>
            </a:r>
            <a:endParaRPr lang="en-US" sz="900" dirty="0"/>
          </a:p>
          <a:p>
            <a:pPr marL="342900" indent="-342900">
              <a:spcAft>
                <a:spcPts val="800"/>
              </a:spcAft>
              <a:buSzPct val="100000"/>
              <a:buChar char="•"/>
            </a:pPr>
            <a:r>
              <a:rPr lang="en-US" sz="920" dirty="0">
                <a:solidFill>
                  <a:srgbClr val="94A3B8"/>
                </a:solidFill>
                <a:latin typeface="Arial" pitchFamily="34" charset="0"/>
                <a:ea typeface="Arial" pitchFamily="34" charset="-122"/>
                <a:cs typeface="Arial" pitchFamily="34" charset="-120"/>
              </a:rPr>
              <a:t>Immediate Telemetry Feedback: Microcontroller emits confirmed state to the broker immediately after relay contact movement.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FRONTEND ENGINEERING &amp; USER EXPERIENCE</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Software Core: Accessible Dashboard UI</a:t>
            </a:r>
            <a:endParaRPr lang="en-US" sz="950" dirty="0"/>
          </a:p>
        </p:txBody>
      </p:sp>
      <p:sp>
        <p:nvSpPr>
          <p:cNvPr id="3" name="Shape 1"/>
          <p:cNvSpPr/>
          <p:nvPr/>
        </p:nvSpPr>
        <p:spPr>
          <a:xfrm>
            <a:off x="731520" y="1143000"/>
            <a:ext cx="3703320" cy="1645920"/>
          </a:xfrm>
          <a:prstGeom prst="roundRect">
            <a:avLst>
              <a:gd name="adj" fmla="val 4444"/>
            </a:avLst>
          </a:prstGeom>
          <a:solidFill>
            <a:srgbClr val="1E293B"/>
          </a:solidFill>
          <a:ln w="12700">
            <a:solidFill>
              <a:srgbClr val="334155"/>
            </a:solidFill>
            <a:prstDash val="solid"/>
          </a:ln>
        </p:spPr>
      </p:sp>
      <p:sp>
        <p:nvSpPr>
          <p:cNvPr id="4" name="Text 2"/>
          <p:cNvSpPr/>
          <p:nvPr/>
        </p:nvSpPr>
        <p:spPr>
          <a:xfrm>
            <a:off x="896112" y="1271016"/>
            <a:ext cx="3374136"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STACK ARCHITECTURE</a:t>
            </a:r>
            <a:endParaRPr lang="en-US" sz="850" dirty="0"/>
          </a:p>
          <a:p>
            <a:pPr indent="0" marL="0">
              <a:spcAft>
                <a:spcPts val="600"/>
              </a:spcAft>
              <a:buNone/>
            </a:pPr>
            <a:r>
              <a:rPr lang="en-US" sz="1300" b="1" dirty="0">
                <a:solidFill>
                  <a:srgbClr val="F8FAFC"/>
                </a:solidFill>
                <a:latin typeface="Arial" pitchFamily="34" charset="0"/>
                <a:ea typeface="Arial" pitchFamily="34" charset="-122"/>
                <a:cs typeface="Arial" pitchFamily="34" charset="-120"/>
              </a:rPr>
              <a:t>React 19 + TypeScript + Vite</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Modern React 19 architecture with strict TypeScript typing and Tailwind CSS v4 design tokens.</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Self-hosted WOFF2 fonts (Plus Jakarta Sans, Outfit, JetBrains Mono) eliminate third-party CDN latency.</a:t>
            </a:r>
            <a:endParaRPr lang="en-US" sz="850" dirty="0"/>
          </a:p>
        </p:txBody>
      </p:sp>
      <p:sp>
        <p:nvSpPr>
          <p:cNvPr id="5" name="Shape 3"/>
          <p:cNvSpPr/>
          <p:nvPr/>
        </p:nvSpPr>
        <p:spPr>
          <a:xfrm>
            <a:off x="4709160" y="1143000"/>
            <a:ext cx="3703320" cy="1645920"/>
          </a:xfrm>
          <a:prstGeom prst="roundRect">
            <a:avLst>
              <a:gd name="adj" fmla="val 4444"/>
            </a:avLst>
          </a:prstGeom>
          <a:solidFill>
            <a:srgbClr val="1E293B"/>
          </a:solidFill>
          <a:ln w="12700">
            <a:solidFill>
              <a:srgbClr val="334155"/>
            </a:solidFill>
            <a:prstDash val="solid"/>
          </a:ln>
        </p:spPr>
      </p:sp>
      <p:sp>
        <p:nvSpPr>
          <p:cNvPr id="6" name="Text 4"/>
          <p:cNvSpPr/>
          <p:nvPr/>
        </p:nvSpPr>
        <p:spPr>
          <a:xfrm>
            <a:off x="4873752" y="1271016"/>
            <a:ext cx="3374136"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10B981"/>
                </a:solidFill>
                <a:latin typeface="Arial" pitchFamily="34" charset="0"/>
                <a:ea typeface="Arial" pitchFamily="34" charset="-122"/>
                <a:cs typeface="Arial" pitchFamily="34" charset="-120"/>
              </a:rPr>
              <a:t>PERFORMANCE BUDGET</a:t>
            </a:r>
            <a:endParaRPr lang="en-US" sz="850" dirty="0"/>
          </a:p>
          <a:p>
            <a:pPr indent="0" marL="0">
              <a:spcAft>
                <a:spcPts val="600"/>
              </a:spcAft>
              <a:buNone/>
            </a:pPr>
            <a:r>
              <a:rPr lang="en-US" sz="1300" b="1" dirty="0">
                <a:solidFill>
                  <a:srgbClr val="F8FAFC"/>
                </a:solidFill>
                <a:latin typeface="Arial" pitchFamily="34" charset="0"/>
                <a:ea typeface="Arial" pitchFamily="34" charset="-122"/>
                <a:cs typeface="Arial" pitchFamily="34" charset="-120"/>
              </a:rPr>
              <a:t>115.02 KB Gzipped Bundle</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54% below the strict 250 KB emerging-market cellular budget.</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First Contentful Paint &lt; 800ms over 3G/4G connections; zero bloated heavy client libraries.</a:t>
            </a:r>
            <a:endParaRPr lang="en-US" sz="850" dirty="0"/>
          </a:p>
        </p:txBody>
      </p:sp>
      <p:sp>
        <p:nvSpPr>
          <p:cNvPr id="7" name="Shape 5"/>
          <p:cNvSpPr/>
          <p:nvPr/>
        </p:nvSpPr>
        <p:spPr>
          <a:xfrm>
            <a:off x="731520" y="2971800"/>
            <a:ext cx="3703320" cy="1645920"/>
          </a:xfrm>
          <a:prstGeom prst="roundRect">
            <a:avLst>
              <a:gd name="adj" fmla="val 4444"/>
            </a:avLst>
          </a:prstGeom>
          <a:solidFill>
            <a:srgbClr val="1E293B"/>
          </a:solidFill>
          <a:ln w="12700">
            <a:solidFill>
              <a:srgbClr val="334155"/>
            </a:solidFill>
            <a:prstDash val="solid"/>
          </a:ln>
        </p:spPr>
      </p:sp>
      <p:sp>
        <p:nvSpPr>
          <p:cNvPr id="8" name="Text 6"/>
          <p:cNvSpPr/>
          <p:nvPr/>
        </p:nvSpPr>
        <p:spPr>
          <a:xfrm>
            <a:off x="896112" y="3099816"/>
            <a:ext cx="3374136"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F59E0B"/>
                </a:solidFill>
                <a:latin typeface="Arial" pitchFamily="34" charset="0"/>
                <a:ea typeface="Arial" pitchFamily="34" charset="-122"/>
                <a:cs typeface="Arial" pitchFamily="34" charset="-120"/>
              </a:rPr>
              <a:t>STATE MANAGEMENT</a:t>
            </a:r>
            <a:endParaRPr lang="en-US" sz="850" dirty="0"/>
          </a:p>
          <a:p>
            <a:pPr indent="0" marL="0">
              <a:spcAft>
                <a:spcPts val="600"/>
              </a:spcAft>
              <a:buNone/>
            </a:pPr>
            <a:r>
              <a:rPr lang="en-US" sz="1300" b="1" dirty="0">
                <a:solidFill>
                  <a:srgbClr val="F8FAFC"/>
                </a:solidFill>
                <a:latin typeface="Arial" pitchFamily="34" charset="0"/>
                <a:ea typeface="Arial" pitchFamily="34" charset="-122"/>
                <a:cs typeface="Arial" pitchFamily="34" charset="-120"/>
              </a:rPr>
              <a:t>TanStack Query v5 Direct Push</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WebSocket telemetry pushes state updates directly into TanStack cache via setQueryData.</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Zero HTTP polling overhead; instantaneous dashboard updates without page re-renders.</a:t>
            </a:r>
            <a:endParaRPr lang="en-US" sz="850" dirty="0"/>
          </a:p>
        </p:txBody>
      </p:sp>
      <p:sp>
        <p:nvSpPr>
          <p:cNvPr id="9" name="Shape 7"/>
          <p:cNvSpPr/>
          <p:nvPr/>
        </p:nvSpPr>
        <p:spPr>
          <a:xfrm>
            <a:off x="4709160" y="2971800"/>
            <a:ext cx="3703320" cy="1645920"/>
          </a:xfrm>
          <a:prstGeom prst="roundRect">
            <a:avLst>
              <a:gd name="adj" fmla="val 4444"/>
            </a:avLst>
          </a:prstGeom>
          <a:solidFill>
            <a:srgbClr val="1E293B"/>
          </a:solidFill>
          <a:ln w="12700">
            <a:solidFill>
              <a:srgbClr val="334155"/>
            </a:solidFill>
            <a:prstDash val="solid"/>
          </a:ln>
        </p:spPr>
      </p:sp>
      <p:sp>
        <p:nvSpPr>
          <p:cNvPr id="10" name="Text 8"/>
          <p:cNvSpPr/>
          <p:nvPr/>
        </p:nvSpPr>
        <p:spPr>
          <a:xfrm>
            <a:off x="4873752" y="3099816"/>
            <a:ext cx="3374136"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ACCESSIBILITY &amp; USABILITY</a:t>
            </a:r>
            <a:endParaRPr lang="en-US" sz="850" dirty="0"/>
          </a:p>
          <a:p>
            <a:pPr indent="0" marL="0">
              <a:spcAft>
                <a:spcPts val="600"/>
              </a:spcAft>
              <a:buNone/>
            </a:pPr>
            <a:r>
              <a:rPr lang="en-US" sz="1300" b="1" dirty="0">
                <a:solidFill>
                  <a:srgbClr val="F8FAFC"/>
                </a:solidFill>
                <a:latin typeface="Arial" pitchFamily="34" charset="0"/>
                <a:ea typeface="Arial" pitchFamily="34" charset="-122"/>
                <a:cs typeface="Arial" pitchFamily="34" charset="-120"/>
              </a:rPr>
              <a:t>WCAG 2.1 AA Ergonomics</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44px minimum touch targets compliant with mobile accessibility standards.</a:t>
            </a:r>
            <a:endParaRPr lang="en-US" sz="850" dirty="0"/>
          </a:p>
          <a:p>
            <a:pPr marL="342900" indent="-342900">
              <a:spcAft>
                <a:spcPts val="400"/>
              </a:spcAft>
              <a:buSzPct val="100000"/>
              <a:buChar char="•"/>
            </a:pPr>
            <a:r>
              <a:rPr lang="en-US" sz="880" dirty="0">
                <a:solidFill>
                  <a:srgbClr val="94A3B8"/>
                </a:solidFill>
                <a:latin typeface="Arial" pitchFamily="34" charset="0"/>
                <a:ea typeface="Arial" pitchFamily="34" charset="-122"/>
                <a:cs typeface="Arial" pitchFamily="34" charset="-120"/>
              </a:rPr>
              <a:t>High-contrast ratios, persistent connection status banner, and honest visual pending spinners.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EMPIRICAL ENERGY &amp; FINANCIAL MODELING</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Kaduna Electric Band A Tariff &amp; Energy Analytics</a:t>
            </a:r>
            <a:endParaRPr lang="en-US" sz="950" dirty="0"/>
          </a:p>
        </p:txBody>
      </p:sp>
      <p:sp>
        <p:nvSpPr>
          <p:cNvPr id="3" name="Shape 1"/>
          <p:cNvSpPr/>
          <p:nvPr/>
        </p:nvSpPr>
        <p:spPr>
          <a:xfrm>
            <a:off x="731520" y="1143000"/>
            <a:ext cx="7680960" cy="1234440"/>
          </a:xfrm>
          <a:prstGeom prst="roundRect">
            <a:avLst>
              <a:gd name="adj" fmla="val 5926"/>
            </a:avLst>
          </a:prstGeom>
          <a:solidFill>
            <a:srgbClr val="1E293B"/>
          </a:solidFill>
          <a:ln w="12700">
            <a:solidFill>
              <a:srgbClr val="334155"/>
            </a:solidFill>
            <a:prstDash val="solid"/>
          </a:ln>
        </p:spPr>
      </p:sp>
      <p:sp>
        <p:nvSpPr>
          <p:cNvPr id="4" name="Text 2"/>
          <p:cNvSpPr/>
          <p:nvPr/>
        </p:nvSpPr>
        <p:spPr>
          <a:xfrm>
            <a:off x="914400" y="1261872"/>
            <a:ext cx="7315200" cy="1005840"/>
          </a:xfrm>
          <a:prstGeom prst="rect">
            <a:avLst/>
          </a:prstGeom>
          <a:noFill/>
          <a:ln/>
        </p:spPr>
        <p:txBody>
          <a:bodyPr wrap="square" lIns="0" tIns="0" rIns="0" bIns="0" rtlCol="0" anchor="t"/>
          <a:lstStyle/>
          <a:p>
            <a:pPr indent="0" marL="0">
              <a:spcAft>
                <a:spcPts val="400"/>
              </a:spcAft>
              <a:buNone/>
            </a:pPr>
            <a:r>
              <a:rPr lang="en-US" sz="880" b="1" spc="100" kern="0" dirty="0">
                <a:solidFill>
                  <a:srgbClr val="0EA5E9"/>
                </a:solidFill>
                <a:latin typeface="Arial" pitchFamily="34" charset="0"/>
                <a:ea typeface="Arial" pitchFamily="34" charset="-122"/>
                <a:cs typeface="Arial" pitchFamily="34" charset="-120"/>
              </a:rPr>
              <a:t>MATHEMATICAL ENERGY CONSUMPTION &amp; EXPENDITURE FORMULATION</a:t>
            </a:r>
            <a:endParaRPr lang="en-US" sz="880" dirty="0"/>
          </a:p>
          <a:p>
            <a:pPr indent="0" marL="0">
              <a:spcAft>
                <a:spcPts val="400"/>
              </a:spcAft>
              <a:buNone/>
            </a:pPr>
            <a:r>
              <a:rPr lang="en-US" sz="1150" b="1" dirty="0">
                <a:solidFill>
                  <a:srgbClr val="F8FAFC"/>
                </a:solidFill>
                <a:latin typeface="Arial" pitchFamily="34" charset="0"/>
                <a:ea typeface="Arial" pitchFamily="34" charset="-122"/>
                <a:cs typeface="Arial" pitchFamily="34" charset="-120"/>
              </a:rPr>
              <a:t>Energy (kWh) = Σ [ Rated Appliance Power (Watts) × Operational Duration (Hours) ] / 1000</a:t>
            </a:r>
            <a:endParaRPr lang="en-US" sz="880" dirty="0"/>
          </a:p>
          <a:p>
            <a:pPr indent="0" marL="0">
              <a:buNone/>
            </a:pPr>
            <a:r>
              <a:rPr lang="en-US" sz="1150" b="1" dirty="0">
                <a:solidFill>
                  <a:srgbClr val="10B981"/>
                </a:solidFill>
                <a:latin typeface="Arial" pitchFamily="34" charset="0"/>
                <a:ea typeface="Arial" pitchFamily="34" charset="-122"/>
                <a:cs typeface="Arial" pitchFamily="34" charset="-120"/>
              </a:rPr>
              <a:t>Expenditure (₦) = Cumulative Energy (kWh) × Kaduna Electric Band A Rate (₦209.5 / kWh)</a:t>
            </a:r>
            <a:endParaRPr lang="en-US" sz="880" dirty="0"/>
          </a:p>
        </p:txBody>
      </p:sp>
      <p:sp>
        <p:nvSpPr>
          <p:cNvPr id="5" name="Shape 3"/>
          <p:cNvSpPr/>
          <p:nvPr/>
        </p:nvSpPr>
        <p:spPr>
          <a:xfrm>
            <a:off x="731520" y="2560320"/>
            <a:ext cx="2414016" cy="2057400"/>
          </a:xfrm>
          <a:prstGeom prst="roundRect">
            <a:avLst>
              <a:gd name="adj" fmla="val 3556"/>
            </a:avLst>
          </a:prstGeom>
          <a:solidFill>
            <a:srgbClr val="1E293B"/>
          </a:solidFill>
          <a:ln w="12700">
            <a:solidFill>
              <a:srgbClr val="334155"/>
            </a:solidFill>
            <a:prstDash val="solid"/>
          </a:ln>
        </p:spPr>
      </p:sp>
      <p:sp>
        <p:nvSpPr>
          <p:cNvPr id="6" name="Text 4"/>
          <p:cNvSpPr/>
          <p:nvPr/>
        </p:nvSpPr>
        <p:spPr>
          <a:xfrm>
            <a:off x="877824" y="2688336"/>
            <a:ext cx="2121408" cy="182880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TARIFF RATE</a:t>
            </a:r>
            <a:endParaRPr lang="en-US" sz="850" dirty="0"/>
          </a:p>
          <a:p>
            <a:pPr indent="0" marL="0">
              <a:spcAft>
                <a:spcPts val="800"/>
              </a:spcAft>
              <a:buNone/>
            </a:pPr>
            <a:r>
              <a:rPr lang="en-US" sz="1300" b="1" dirty="0">
                <a:solidFill>
                  <a:srgbClr val="F8FAFC"/>
                </a:solidFill>
                <a:latin typeface="Arial" pitchFamily="34" charset="0"/>
                <a:ea typeface="Arial" pitchFamily="34" charset="-122"/>
                <a:cs typeface="Arial" pitchFamily="34" charset="-120"/>
              </a:rPr>
              <a:t>Kaduna Electric Band A</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Calibrated to NERC Kaduna Electric Band A commercial tariff of ₦209.5 per kWh.</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Dynamic backend configuration allows rate adjustments without code re-deployment.</a:t>
            </a:r>
            <a:endParaRPr lang="en-US" sz="850" dirty="0"/>
          </a:p>
        </p:txBody>
      </p:sp>
      <p:sp>
        <p:nvSpPr>
          <p:cNvPr id="7" name="Shape 5"/>
          <p:cNvSpPr/>
          <p:nvPr/>
        </p:nvSpPr>
        <p:spPr>
          <a:xfrm>
            <a:off x="3364992" y="2560320"/>
            <a:ext cx="2414016" cy="2057400"/>
          </a:xfrm>
          <a:prstGeom prst="roundRect">
            <a:avLst>
              <a:gd name="adj" fmla="val 3556"/>
            </a:avLst>
          </a:prstGeom>
          <a:solidFill>
            <a:srgbClr val="1E293B"/>
          </a:solidFill>
          <a:ln w="12700">
            <a:solidFill>
              <a:srgbClr val="334155"/>
            </a:solidFill>
            <a:prstDash val="solid"/>
          </a:ln>
        </p:spPr>
      </p:sp>
      <p:sp>
        <p:nvSpPr>
          <p:cNvPr id="8" name="Text 6"/>
          <p:cNvSpPr/>
          <p:nvPr/>
        </p:nvSpPr>
        <p:spPr>
          <a:xfrm>
            <a:off x="3511296" y="2688336"/>
            <a:ext cx="2121408" cy="1828800"/>
          </a:xfrm>
          <a:prstGeom prst="rect">
            <a:avLst/>
          </a:prstGeom>
          <a:noFill/>
          <a:ln/>
        </p:spPr>
        <p:txBody>
          <a:bodyPr wrap="square" lIns="0" tIns="0" rIns="0" bIns="0" rtlCol="0" anchor="t"/>
          <a:lstStyle/>
          <a:p>
            <a:pPr indent="0" marL="0">
              <a:spcAft>
                <a:spcPts val="300"/>
              </a:spcAft>
              <a:buNone/>
            </a:pPr>
            <a:r>
              <a:rPr lang="en-US" sz="850" b="1" spc="100" kern="0" dirty="0">
                <a:solidFill>
                  <a:srgbClr val="10B981"/>
                </a:solidFill>
                <a:latin typeface="Arial" pitchFamily="34" charset="0"/>
                <a:ea typeface="Arial" pitchFamily="34" charset="-122"/>
                <a:cs typeface="Arial" pitchFamily="34" charset="-120"/>
              </a:rPr>
              <a:t>INTEGRATION</a:t>
            </a:r>
            <a:endParaRPr lang="en-US" sz="850" dirty="0"/>
          </a:p>
          <a:p>
            <a:pPr indent="0" marL="0">
              <a:spcAft>
                <a:spcPts val="800"/>
              </a:spcAft>
              <a:buNone/>
            </a:pPr>
            <a:r>
              <a:rPr lang="en-US" sz="1300" b="1" dirty="0">
                <a:solidFill>
                  <a:srgbClr val="F8FAFC"/>
                </a:solidFill>
                <a:latin typeface="Arial" pitchFamily="34" charset="0"/>
                <a:ea typeface="Arial" pitchFamily="34" charset="-122"/>
                <a:cs typeface="Arial" pitchFamily="34" charset="-120"/>
              </a:rPr>
              <a:t>Pairwise Duration Engine</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Calculates active appliance runtime by pairing sequential on and off events from immutable activity logs.</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Eliminates polling estimation drift, accurately accounting for exact energized duration.</a:t>
            </a:r>
            <a:endParaRPr lang="en-US" sz="850" dirty="0"/>
          </a:p>
        </p:txBody>
      </p:sp>
      <p:sp>
        <p:nvSpPr>
          <p:cNvPr id="9" name="Shape 7"/>
          <p:cNvSpPr/>
          <p:nvPr/>
        </p:nvSpPr>
        <p:spPr>
          <a:xfrm>
            <a:off x="5998464" y="2560320"/>
            <a:ext cx="2414016" cy="2057400"/>
          </a:xfrm>
          <a:prstGeom prst="roundRect">
            <a:avLst>
              <a:gd name="adj" fmla="val 3556"/>
            </a:avLst>
          </a:prstGeom>
          <a:solidFill>
            <a:srgbClr val="1E293B"/>
          </a:solidFill>
          <a:ln w="12700">
            <a:solidFill>
              <a:srgbClr val="334155"/>
            </a:solidFill>
            <a:prstDash val="solid"/>
          </a:ln>
        </p:spPr>
      </p:sp>
      <p:sp>
        <p:nvSpPr>
          <p:cNvPr id="10" name="Text 8"/>
          <p:cNvSpPr/>
          <p:nvPr/>
        </p:nvSpPr>
        <p:spPr>
          <a:xfrm>
            <a:off x="6144768" y="2688336"/>
            <a:ext cx="2121408" cy="1828800"/>
          </a:xfrm>
          <a:prstGeom prst="rect">
            <a:avLst/>
          </a:prstGeom>
          <a:noFill/>
          <a:ln/>
        </p:spPr>
        <p:txBody>
          <a:bodyPr wrap="square" lIns="0" tIns="0" rIns="0" bIns="0" rtlCol="0" anchor="t"/>
          <a:lstStyle/>
          <a:p>
            <a:pPr indent="0" marL="0">
              <a:spcAft>
                <a:spcPts val="300"/>
              </a:spcAft>
              <a:buNone/>
            </a:pPr>
            <a:r>
              <a:rPr lang="en-US" sz="850" b="1" spc="100" kern="0" dirty="0">
                <a:solidFill>
                  <a:srgbClr val="F59E0B"/>
                </a:solidFill>
                <a:latin typeface="Arial" pitchFamily="34" charset="0"/>
                <a:ea typeface="Arial" pitchFamily="34" charset="-122"/>
                <a:cs typeface="Arial" pitchFamily="34" charset="-120"/>
              </a:rPr>
              <a:t>AUDITABILITY</a:t>
            </a:r>
            <a:endParaRPr lang="en-US" sz="850" dirty="0"/>
          </a:p>
          <a:p>
            <a:pPr indent="0" marL="0">
              <a:spcAft>
                <a:spcPts val="800"/>
              </a:spcAft>
              <a:buNone/>
            </a:pPr>
            <a:r>
              <a:rPr lang="en-US" sz="1300" b="1" dirty="0">
                <a:solidFill>
                  <a:srgbClr val="F8FAFC"/>
                </a:solidFill>
                <a:latin typeface="Arial" pitchFamily="34" charset="0"/>
                <a:ea typeface="Arial" pitchFamily="34" charset="-122"/>
                <a:cs typeface="Arial" pitchFamily="34" charset="-120"/>
              </a:rPr>
              <a:t>Financial CSV Reporting</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One-click administrative CSV export generates comprehensive operational records.</a:t>
            </a:r>
            <a:endParaRPr lang="en-US" sz="850" dirty="0"/>
          </a:p>
          <a:p>
            <a:pPr marL="342900" indent="-342900">
              <a:spcAft>
                <a:spcPts val="600"/>
              </a:spcAft>
              <a:buSzPct val="100000"/>
              <a:buChar char="•"/>
            </a:pPr>
            <a:r>
              <a:rPr lang="en-US" sz="880" dirty="0">
                <a:solidFill>
                  <a:srgbClr val="94A3B8"/>
                </a:solidFill>
                <a:latin typeface="Arial" pitchFamily="34" charset="0"/>
                <a:ea typeface="Arial" pitchFamily="34" charset="-122"/>
                <a:cs typeface="Arial" pitchFamily="34" charset="-120"/>
              </a:rPr>
              <a:t>Provides facility managers and financial auditors with auditable per-channel kWh and Naira figures.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BENCHMARKING &amp; NON-FUNCTIONAL REQUIREMENTS</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Experimental Results &amp; NFR Verification</a:t>
            </a:r>
            <a:endParaRPr lang="en-US" sz="950" dirty="0"/>
          </a:p>
        </p:txBody>
      </p:sp>
      <p:sp>
        <p:nvSpPr>
          <p:cNvPr id="3" name="Shape 1"/>
          <p:cNvSpPr/>
          <p:nvPr/>
        </p:nvSpPr>
        <p:spPr>
          <a:xfrm>
            <a:off x="731520" y="1143000"/>
            <a:ext cx="1783080" cy="3474720"/>
          </a:xfrm>
          <a:prstGeom prst="roundRect">
            <a:avLst>
              <a:gd name="adj" fmla="val 4103"/>
            </a:avLst>
          </a:prstGeom>
          <a:solidFill>
            <a:srgbClr val="1E293B"/>
          </a:solidFill>
          <a:ln w="12700">
            <a:solidFill>
              <a:srgbClr val="334155"/>
            </a:solidFill>
            <a:prstDash val="solid"/>
          </a:ln>
        </p:spPr>
      </p:sp>
      <p:sp>
        <p:nvSpPr>
          <p:cNvPr id="4" name="Text 2"/>
          <p:cNvSpPr/>
          <p:nvPr/>
        </p:nvSpPr>
        <p:spPr>
          <a:xfrm>
            <a:off x="85953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10B981"/>
                </a:solidFill>
                <a:latin typeface="Arial" pitchFamily="34" charset="0"/>
                <a:ea typeface="Arial" pitchFamily="34" charset="-122"/>
                <a:cs typeface="Arial" pitchFamily="34" charset="-120"/>
              </a:rPr>
              <a:t>PRD NFR-1</a:t>
            </a:r>
            <a:endParaRPr lang="en-US" sz="850" dirty="0"/>
          </a:p>
          <a:p>
            <a:pPr indent="0" marL="0">
              <a:spcAft>
                <a:spcPts val="200"/>
              </a:spcAft>
              <a:buNone/>
            </a:pPr>
            <a:r>
              <a:rPr lang="en-US" sz="2600" b="1" dirty="0">
                <a:solidFill>
                  <a:srgbClr val="0EA5E9"/>
                </a:solidFill>
                <a:latin typeface="Arial" pitchFamily="34" charset="0"/>
                <a:ea typeface="Arial" pitchFamily="34" charset="-122"/>
                <a:cs typeface="Arial" pitchFamily="34" charset="-120"/>
              </a:rPr>
              <a:t>142 ms</a:t>
            </a:r>
            <a:endParaRPr lang="en-US" sz="850" dirty="0"/>
          </a:p>
          <a:p>
            <a:pPr indent="0" marL="0">
              <a:spcAft>
                <a:spcPts val="200"/>
              </a:spcAft>
              <a:buNone/>
            </a:pPr>
            <a:r>
              <a:rPr lang="en-US" sz="1200" b="1" dirty="0">
                <a:solidFill>
                  <a:srgbClr val="F8FAFC"/>
                </a:solidFill>
                <a:latin typeface="Arial" pitchFamily="34" charset="0"/>
                <a:ea typeface="Arial" pitchFamily="34" charset="-122"/>
                <a:cs typeface="Arial" pitchFamily="34" charset="-120"/>
              </a:rPr>
              <a:t>Relay Actuation Latency</a:t>
            </a:r>
            <a:endParaRPr lang="en-US" sz="850" dirty="0"/>
          </a:p>
          <a:p>
            <a:pPr indent="0" marL="0">
              <a:spcAft>
                <a:spcPts val="200"/>
              </a:spcAft>
              <a:buNone/>
            </a:pPr>
            <a:r>
              <a:rPr lang="en-US" sz="850" dirty="0">
                <a:solidFill>
                  <a:srgbClr val="94A3B8"/>
                </a:solidFill>
                <a:latin typeface="Arial" pitchFamily="34" charset="0"/>
                <a:ea typeface="Arial" pitchFamily="34" charset="-122"/>
                <a:cs typeface="Arial" pitchFamily="34" charset="-120"/>
              </a:rPr>
              <a:t>Target: &lt; 500 ms</a:t>
            </a:r>
            <a:endParaRPr lang="en-US" sz="850" dirty="0"/>
          </a:p>
          <a:p>
            <a:pPr indent="0" marL="0">
              <a:spcAft>
                <a:spcPts val="1000"/>
              </a:spcAft>
              <a:buNone/>
            </a:pPr>
            <a:r>
              <a:rPr lang="en-US" sz="880" b="1" dirty="0">
                <a:solidFill>
                  <a:srgbClr val="10B981"/>
                </a:solidFill>
                <a:latin typeface="Arial" pitchFamily="34" charset="0"/>
                <a:ea typeface="Arial" pitchFamily="34" charset="-122"/>
                <a:cs typeface="Arial" pitchFamily="34" charset="-120"/>
              </a:rPr>
              <a:t>PASSED (71.6% margin)</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Measures delay from web toggle click to physical relay coil energization.</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Peak latency remained under 350ms during cellular hotspot testing.</a:t>
            </a:r>
            <a:endParaRPr lang="en-US" sz="850" dirty="0"/>
          </a:p>
        </p:txBody>
      </p:sp>
      <p:sp>
        <p:nvSpPr>
          <p:cNvPr id="5" name="Shape 3"/>
          <p:cNvSpPr/>
          <p:nvPr/>
        </p:nvSpPr>
        <p:spPr>
          <a:xfrm>
            <a:off x="2697480" y="1143000"/>
            <a:ext cx="1783080" cy="3474720"/>
          </a:xfrm>
          <a:prstGeom prst="roundRect">
            <a:avLst>
              <a:gd name="adj" fmla="val 4103"/>
            </a:avLst>
          </a:prstGeom>
          <a:solidFill>
            <a:srgbClr val="1E293B"/>
          </a:solidFill>
          <a:ln w="12700">
            <a:solidFill>
              <a:srgbClr val="334155"/>
            </a:solidFill>
            <a:prstDash val="solid"/>
          </a:ln>
        </p:spPr>
      </p:sp>
      <p:sp>
        <p:nvSpPr>
          <p:cNvPr id="6" name="Text 4"/>
          <p:cNvSpPr/>
          <p:nvPr/>
        </p:nvSpPr>
        <p:spPr>
          <a:xfrm>
            <a:off x="282549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10B981"/>
                </a:solidFill>
                <a:latin typeface="Arial" pitchFamily="34" charset="0"/>
                <a:ea typeface="Arial" pitchFamily="34" charset="-122"/>
                <a:cs typeface="Arial" pitchFamily="34" charset="-120"/>
              </a:rPr>
              <a:t>PRD NFR-2</a:t>
            </a:r>
            <a:endParaRPr lang="en-US" sz="850" dirty="0"/>
          </a:p>
          <a:p>
            <a:pPr indent="0" marL="0">
              <a:spcAft>
                <a:spcPts val="200"/>
              </a:spcAft>
              <a:buNone/>
            </a:pPr>
            <a:r>
              <a:rPr lang="en-US" sz="2600" b="1" dirty="0">
                <a:solidFill>
                  <a:srgbClr val="0EA5E9"/>
                </a:solidFill>
                <a:latin typeface="Arial" pitchFamily="34" charset="0"/>
                <a:ea typeface="Arial" pitchFamily="34" charset="-122"/>
                <a:cs typeface="Arial" pitchFamily="34" charset="-120"/>
              </a:rPr>
              <a:t>215 ms</a:t>
            </a:r>
            <a:endParaRPr lang="en-US" sz="850" dirty="0"/>
          </a:p>
          <a:p>
            <a:pPr indent="0" marL="0">
              <a:spcAft>
                <a:spcPts val="200"/>
              </a:spcAft>
              <a:buNone/>
            </a:pPr>
            <a:r>
              <a:rPr lang="en-US" sz="1200" b="1" dirty="0">
                <a:solidFill>
                  <a:srgbClr val="F8FAFC"/>
                </a:solidFill>
                <a:latin typeface="Arial" pitchFamily="34" charset="0"/>
                <a:ea typeface="Arial" pitchFamily="34" charset="-122"/>
                <a:cs typeface="Arial" pitchFamily="34" charset="-120"/>
              </a:rPr>
              <a:t>State Sync Latency</a:t>
            </a:r>
            <a:endParaRPr lang="en-US" sz="850" dirty="0"/>
          </a:p>
          <a:p>
            <a:pPr indent="0" marL="0">
              <a:spcAft>
                <a:spcPts val="200"/>
              </a:spcAft>
              <a:buNone/>
            </a:pPr>
            <a:r>
              <a:rPr lang="en-US" sz="850" dirty="0">
                <a:solidFill>
                  <a:srgbClr val="94A3B8"/>
                </a:solidFill>
                <a:latin typeface="Arial" pitchFamily="34" charset="0"/>
                <a:ea typeface="Arial" pitchFamily="34" charset="-122"/>
                <a:cs typeface="Arial" pitchFamily="34" charset="-120"/>
              </a:rPr>
              <a:t>Target: ~1,000 ms</a:t>
            </a:r>
            <a:endParaRPr lang="en-US" sz="850" dirty="0"/>
          </a:p>
          <a:p>
            <a:pPr indent="0" marL="0">
              <a:spcAft>
                <a:spcPts val="1000"/>
              </a:spcAft>
              <a:buNone/>
            </a:pPr>
            <a:r>
              <a:rPr lang="en-US" sz="880" b="1" dirty="0">
                <a:solidFill>
                  <a:srgbClr val="10B981"/>
                </a:solidFill>
                <a:latin typeface="Arial" pitchFamily="34" charset="0"/>
                <a:ea typeface="Arial" pitchFamily="34" charset="-122"/>
                <a:cs typeface="Arial" pitchFamily="34" charset="-120"/>
              </a:rPr>
              <a:t>PASSED (78.5% margin)</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Measures time for physical switch toggle to update web dashboard UI.</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Instant state reflection via MQTT telemetry and WebSockets.</a:t>
            </a:r>
            <a:endParaRPr lang="en-US" sz="850" dirty="0"/>
          </a:p>
        </p:txBody>
      </p:sp>
      <p:sp>
        <p:nvSpPr>
          <p:cNvPr id="7" name="Shape 5"/>
          <p:cNvSpPr/>
          <p:nvPr/>
        </p:nvSpPr>
        <p:spPr>
          <a:xfrm>
            <a:off x="4663440" y="1143000"/>
            <a:ext cx="1783080" cy="3474720"/>
          </a:xfrm>
          <a:prstGeom prst="roundRect">
            <a:avLst>
              <a:gd name="adj" fmla="val 4103"/>
            </a:avLst>
          </a:prstGeom>
          <a:solidFill>
            <a:srgbClr val="1E293B"/>
          </a:solidFill>
          <a:ln w="12700">
            <a:solidFill>
              <a:srgbClr val="334155"/>
            </a:solidFill>
            <a:prstDash val="solid"/>
          </a:ln>
        </p:spPr>
      </p:sp>
      <p:sp>
        <p:nvSpPr>
          <p:cNvPr id="8" name="Text 6"/>
          <p:cNvSpPr/>
          <p:nvPr/>
        </p:nvSpPr>
        <p:spPr>
          <a:xfrm>
            <a:off x="479145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10B981"/>
                </a:solidFill>
                <a:latin typeface="Arial" pitchFamily="34" charset="0"/>
                <a:ea typeface="Arial" pitchFamily="34" charset="-122"/>
                <a:cs typeface="Arial" pitchFamily="34" charset="-120"/>
              </a:rPr>
              <a:t>PRD NFR-3</a:t>
            </a:r>
            <a:endParaRPr lang="en-US" sz="850" dirty="0"/>
          </a:p>
          <a:p>
            <a:pPr indent="0" marL="0">
              <a:spcAft>
                <a:spcPts val="200"/>
              </a:spcAft>
              <a:buNone/>
            </a:pPr>
            <a:r>
              <a:rPr lang="en-US" sz="2600" b="1" dirty="0">
                <a:solidFill>
                  <a:srgbClr val="10B981"/>
                </a:solidFill>
                <a:latin typeface="Arial" pitchFamily="34" charset="0"/>
                <a:ea typeface="Arial" pitchFamily="34" charset="-122"/>
                <a:cs typeface="Arial" pitchFamily="34" charset="-120"/>
              </a:rPr>
              <a:t>20 / 20</a:t>
            </a:r>
            <a:endParaRPr lang="en-US" sz="850" dirty="0"/>
          </a:p>
          <a:p>
            <a:pPr indent="0" marL="0">
              <a:spcAft>
                <a:spcPts val="200"/>
              </a:spcAft>
              <a:buNone/>
            </a:pPr>
            <a:r>
              <a:rPr lang="en-US" sz="1200" b="1" dirty="0">
                <a:solidFill>
                  <a:srgbClr val="F8FAFC"/>
                </a:solidFill>
                <a:latin typeface="Arial" pitchFamily="34" charset="0"/>
                <a:ea typeface="Arial" pitchFamily="34" charset="-122"/>
                <a:cs typeface="Arial" pitchFamily="34" charset="-120"/>
              </a:rPr>
              <a:t>Client Concurrency</a:t>
            </a:r>
            <a:endParaRPr lang="en-US" sz="850" dirty="0"/>
          </a:p>
          <a:p>
            <a:pPr indent="0" marL="0">
              <a:spcAft>
                <a:spcPts val="200"/>
              </a:spcAft>
              <a:buNone/>
            </a:pPr>
            <a:r>
              <a:rPr lang="en-US" sz="850" dirty="0">
                <a:solidFill>
                  <a:srgbClr val="94A3B8"/>
                </a:solidFill>
                <a:latin typeface="Arial" pitchFamily="34" charset="0"/>
                <a:ea typeface="Arial" pitchFamily="34" charset="-122"/>
                <a:cs typeface="Arial" pitchFamily="34" charset="-120"/>
              </a:rPr>
              <a:t>Target: 20 clients</a:t>
            </a:r>
            <a:endParaRPr lang="en-US" sz="850" dirty="0"/>
          </a:p>
          <a:p>
            <a:pPr indent="0" marL="0">
              <a:spcAft>
                <a:spcPts val="1000"/>
              </a:spcAft>
              <a:buNone/>
            </a:pPr>
            <a:r>
              <a:rPr lang="en-US" sz="880" b="1" dirty="0">
                <a:solidFill>
                  <a:srgbClr val="10B981"/>
                </a:solidFill>
                <a:latin typeface="Arial" pitchFamily="34" charset="0"/>
                <a:ea typeface="Arial" pitchFamily="34" charset="-122"/>
                <a:cs typeface="Arial" pitchFamily="34" charset="-120"/>
              </a:rPr>
              <a:t>PASSED (100% stable)</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20 concurrent WebSocket client connections streaming live telemetry.</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0% message loss, zero socket disconnects, sub-5ms broadcast distribution.</a:t>
            </a:r>
            <a:endParaRPr lang="en-US" sz="850" dirty="0"/>
          </a:p>
        </p:txBody>
      </p:sp>
      <p:sp>
        <p:nvSpPr>
          <p:cNvPr id="9" name="Shape 7"/>
          <p:cNvSpPr/>
          <p:nvPr/>
        </p:nvSpPr>
        <p:spPr>
          <a:xfrm>
            <a:off x="6629400" y="1143000"/>
            <a:ext cx="1783080" cy="3474720"/>
          </a:xfrm>
          <a:prstGeom prst="roundRect">
            <a:avLst>
              <a:gd name="adj" fmla="val 4103"/>
            </a:avLst>
          </a:prstGeom>
          <a:solidFill>
            <a:srgbClr val="1E293B"/>
          </a:solidFill>
          <a:ln w="12700">
            <a:solidFill>
              <a:srgbClr val="334155"/>
            </a:solidFill>
            <a:prstDash val="solid"/>
          </a:ln>
        </p:spPr>
      </p:sp>
      <p:sp>
        <p:nvSpPr>
          <p:cNvPr id="10" name="Text 8"/>
          <p:cNvSpPr/>
          <p:nvPr/>
        </p:nvSpPr>
        <p:spPr>
          <a:xfrm>
            <a:off x="6757416" y="1280160"/>
            <a:ext cx="1527048" cy="3200400"/>
          </a:xfrm>
          <a:prstGeom prst="rect">
            <a:avLst/>
          </a:prstGeom>
          <a:noFill/>
          <a:ln/>
        </p:spPr>
        <p:txBody>
          <a:bodyPr wrap="square" lIns="0" tIns="0" rIns="0" bIns="0" rtlCol="0" anchor="t"/>
          <a:lstStyle/>
          <a:p>
            <a:pPr indent="0" marL="0">
              <a:spcAft>
                <a:spcPts val="400"/>
              </a:spcAft>
              <a:buNone/>
            </a:pPr>
            <a:r>
              <a:rPr lang="en-US" sz="850" b="1" spc="100" kern="0" dirty="0">
                <a:solidFill>
                  <a:srgbClr val="10B981"/>
                </a:solidFill>
                <a:latin typeface="Arial" pitchFamily="34" charset="0"/>
                <a:ea typeface="Arial" pitchFamily="34" charset="-122"/>
                <a:cs typeface="Arial" pitchFamily="34" charset="-120"/>
              </a:rPr>
              <a:t>QUALITY ASSURANCE</a:t>
            </a:r>
            <a:endParaRPr lang="en-US" sz="850" dirty="0"/>
          </a:p>
          <a:p>
            <a:pPr indent="0" marL="0">
              <a:spcAft>
                <a:spcPts val="200"/>
              </a:spcAft>
              <a:buNone/>
            </a:pPr>
            <a:r>
              <a:rPr lang="en-US" sz="2600" b="1" dirty="0">
                <a:solidFill>
                  <a:srgbClr val="10B981"/>
                </a:solidFill>
                <a:latin typeface="Arial" pitchFamily="34" charset="0"/>
                <a:ea typeface="Arial" pitchFamily="34" charset="-122"/>
                <a:cs typeface="Arial" pitchFamily="34" charset="-120"/>
              </a:rPr>
              <a:t>117 / 117</a:t>
            </a:r>
            <a:endParaRPr lang="en-US" sz="850" dirty="0"/>
          </a:p>
          <a:p>
            <a:pPr indent="0" marL="0">
              <a:spcAft>
                <a:spcPts val="200"/>
              </a:spcAft>
              <a:buNone/>
            </a:pPr>
            <a:r>
              <a:rPr lang="en-US" sz="1200" b="1" dirty="0">
                <a:solidFill>
                  <a:srgbClr val="F8FAFC"/>
                </a:solidFill>
                <a:latin typeface="Arial" pitchFamily="34" charset="0"/>
                <a:ea typeface="Arial" pitchFamily="34" charset="-122"/>
                <a:cs typeface="Arial" pitchFamily="34" charset="-120"/>
              </a:rPr>
              <a:t>Automated Test Suite</a:t>
            </a:r>
            <a:endParaRPr lang="en-US" sz="850" dirty="0"/>
          </a:p>
          <a:p>
            <a:pPr indent="0" marL="0">
              <a:spcAft>
                <a:spcPts val="200"/>
              </a:spcAft>
              <a:buNone/>
            </a:pPr>
            <a:r>
              <a:rPr lang="en-US" sz="850" dirty="0">
                <a:solidFill>
                  <a:srgbClr val="94A3B8"/>
                </a:solidFill>
                <a:latin typeface="Arial" pitchFamily="34" charset="0"/>
                <a:ea typeface="Arial" pitchFamily="34" charset="-122"/>
                <a:cs typeface="Arial" pitchFamily="34" charset="-120"/>
              </a:rPr>
              <a:t>Target: 100% Pass</a:t>
            </a:r>
            <a:endParaRPr lang="en-US" sz="850" dirty="0"/>
          </a:p>
          <a:p>
            <a:pPr indent="0" marL="0">
              <a:spcAft>
                <a:spcPts val="1000"/>
              </a:spcAft>
              <a:buNone/>
            </a:pPr>
            <a:r>
              <a:rPr lang="en-US" sz="880" b="1" dirty="0">
                <a:solidFill>
                  <a:srgbClr val="10B981"/>
                </a:solidFill>
                <a:latin typeface="Arial" pitchFamily="34" charset="0"/>
                <a:ea typeface="Arial" pitchFamily="34" charset="-122"/>
                <a:cs typeface="Arial" pitchFamily="34" charset="-120"/>
              </a:rPr>
              <a:t>PASSED (0 errors)</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50 Pytest backend/E2E tests and 67 Vitest frontend tests passed (100%).</a:t>
            </a:r>
            <a:endParaRPr lang="en-US" sz="850" dirty="0"/>
          </a:p>
          <a:p>
            <a:pPr marL="342900" indent="-342900">
              <a:spcAft>
                <a:spcPts val="600"/>
              </a:spcAft>
              <a:buSzPct val="100000"/>
              <a:buChar char="•"/>
            </a:pPr>
            <a:r>
              <a:rPr lang="en-US" sz="830" dirty="0">
                <a:solidFill>
                  <a:srgbClr val="94A3B8"/>
                </a:solidFill>
                <a:latin typeface="Arial" pitchFamily="34" charset="0"/>
                <a:ea typeface="Arial" pitchFamily="34" charset="-122"/>
                <a:cs typeface="Arial" pitchFamily="34" charset="-120"/>
              </a:rPr>
              <a:t>Zero Ruff lint errors, zero ESLint issues, 100% Zero-Comments compliance.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SECURITY CONTROLS &amp; PRIVACY GOVERNANCE</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Security Engineering &amp; NDPA 2023 Compliance</a:t>
            </a:r>
            <a:endParaRPr lang="en-US" sz="950" dirty="0"/>
          </a:p>
        </p:txBody>
      </p:sp>
      <p:sp>
        <p:nvSpPr>
          <p:cNvPr id="3" name="Shape 1"/>
          <p:cNvSpPr/>
          <p:nvPr/>
        </p:nvSpPr>
        <p:spPr>
          <a:xfrm>
            <a:off x="731520" y="1143000"/>
            <a:ext cx="2414016" cy="3474720"/>
          </a:xfrm>
          <a:prstGeom prst="roundRect">
            <a:avLst>
              <a:gd name="adj" fmla="val 3030"/>
            </a:avLst>
          </a:prstGeom>
          <a:solidFill>
            <a:srgbClr val="1E293B"/>
          </a:solidFill>
          <a:ln w="12700">
            <a:solidFill>
              <a:srgbClr val="334155"/>
            </a:solidFill>
            <a:prstDash val="solid"/>
          </a:ln>
        </p:spPr>
      </p:sp>
      <p:sp>
        <p:nvSpPr>
          <p:cNvPr id="4" name="Text 2"/>
          <p:cNvSpPr/>
          <p:nvPr/>
        </p:nvSpPr>
        <p:spPr>
          <a:xfrm>
            <a:off x="877824"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IDENTITY &amp; ACCESS</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Access Control Layer</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Admin-Gated Onboarding: Public self-registration disabled; accounts created solely by authorized administrators.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Hybrid Auth Architecture: Primary Google OAuth2 flow with salted bcrypt password fallback.</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Account Lockout Defense: Automatic 15-minute freeze triggered after 5 consecutive failed login attempts.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Role-Based Access (RBAC): Strict segregation of admin configuration and operator switching permissions.</a:t>
            </a:r>
            <a:endParaRPr lang="en-US" sz="900" dirty="0"/>
          </a:p>
        </p:txBody>
      </p:sp>
      <p:sp>
        <p:nvSpPr>
          <p:cNvPr id="5" name="Shape 3"/>
          <p:cNvSpPr/>
          <p:nvPr/>
        </p:nvSpPr>
        <p:spPr>
          <a:xfrm>
            <a:off x="3364992" y="1143000"/>
            <a:ext cx="2414016" cy="3474720"/>
          </a:xfrm>
          <a:prstGeom prst="roundRect">
            <a:avLst>
              <a:gd name="adj" fmla="val 3030"/>
            </a:avLst>
          </a:prstGeom>
          <a:solidFill>
            <a:srgbClr val="1E293B"/>
          </a:solidFill>
          <a:ln w="12700">
            <a:solidFill>
              <a:srgbClr val="334155"/>
            </a:solidFill>
            <a:prstDash val="solid"/>
          </a:ln>
        </p:spPr>
      </p:sp>
      <p:sp>
        <p:nvSpPr>
          <p:cNvPr id="6" name="Text 4"/>
          <p:cNvSpPr/>
          <p:nvPr/>
        </p:nvSpPr>
        <p:spPr>
          <a:xfrm>
            <a:off x="3511296"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10B981"/>
                </a:solidFill>
                <a:latin typeface="Arial" pitchFamily="34" charset="0"/>
                <a:ea typeface="Arial" pitchFamily="34" charset="-122"/>
                <a:cs typeface="Arial" pitchFamily="34" charset="-120"/>
              </a:rPr>
              <a:t>NETWORK DEFENSE</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Transport &amp; Broker Security</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Per-Device Mosquitto ACLs: Hardware credentials restricted strictly to assigned office/&lt;device_id&gt;/* topics.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End-to-End TLS Encryption: Enforced across MQTTS (Port 8883) and Web HTTPS (Port 443).</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Secret Hygiene Governance: Zero hardcoded secrets; .env.template enforcement with automated CI/CD audits.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Non-Root Container Execution: Production backend containerized under unprivileged appuser:1001.</a:t>
            </a:r>
            <a:endParaRPr lang="en-US" sz="900" dirty="0"/>
          </a:p>
        </p:txBody>
      </p:sp>
      <p:sp>
        <p:nvSpPr>
          <p:cNvPr id="7" name="Shape 5"/>
          <p:cNvSpPr/>
          <p:nvPr/>
        </p:nvSpPr>
        <p:spPr>
          <a:xfrm>
            <a:off x="5998464" y="1143000"/>
            <a:ext cx="2414016" cy="3474720"/>
          </a:xfrm>
          <a:prstGeom prst="roundRect">
            <a:avLst>
              <a:gd name="adj" fmla="val 3030"/>
            </a:avLst>
          </a:prstGeom>
          <a:solidFill>
            <a:srgbClr val="1E293B"/>
          </a:solidFill>
          <a:ln w="12700">
            <a:solidFill>
              <a:srgbClr val="334155"/>
            </a:solidFill>
            <a:prstDash val="solid"/>
          </a:ln>
        </p:spPr>
      </p:sp>
      <p:sp>
        <p:nvSpPr>
          <p:cNvPr id="8" name="Text 6"/>
          <p:cNvSpPr/>
          <p:nvPr/>
        </p:nvSpPr>
        <p:spPr>
          <a:xfrm>
            <a:off x="6144768"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F59E0B"/>
                </a:solidFill>
                <a:latin typeface="Arial" pitchFamily="34" charset="0"/>
                <a:ea typeface="Arial" pitchFamily="34" charset="-122"/>
                <a:cs typeface="Arial" pitchFamily="34" charset="-120"/>
              </a:rPr>
              <a:t>DATA PRIVACY</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NDPA 2023 Compliance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Strict Data Minimization: Collects solely necessary operational metrics (timestamps, channel IDs, states, emails).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Deletion-on-Request Support: User account deletion permanently redacts personal identifiers from audit logs.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Immutable Audit Logging: Append-only event tracking maintains non-repudiation and regulatory chain of custody.</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Nigerian Statutory Alignment: Fully complies with Nigeria Data Protection Act (NDPA) 2023 principles.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TECHNICAL EVOLUTION &amp; ACADEMIC INTEGRITY</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Architectural Evolution &amp; Documented Deviations</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7680960" cy="914400"/>
        </p:xfrm>
        <a:graphic>
          <a:graphicData uri="http://schemas.openxmlformats.org/drawingml/2006/table">
            <a:tbl>
              <a:tblPr/>
              <a:tblGrid>
                <a:gridCol w="1371600"/>
                <a:gridCol w="1645920"/>
                <a:gridCol w="1737360"/>
                <a:gridCol w="2926080"/>
              </a:tblGrid>
              <a:tr h="0">
                <a:tc>
                  <a:txBody>
                    <a:bodyPr/>
                    <a:lstStyle/>
                    <a:p>
                      <a:pPr algn="ctr" indent="0" marL="0">
                        <a:buNone/>
                      </a:pPr>
                      <a:r>
                        <a:rPr lang="en-US" sz="1000" b="1" dirty="0">
                          <a:solidFill>
                            <a:srgbClr val="0EA5E9"/>
                          </a:solidFill>
                        </a:rPr>
                        <a:t>System Component</a:t>
                      </a:r>
                      <a:endParaRPr lang="en-US" sz="10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0EA5E9"/>
                          </a:solidFill>
                        </a:rPr>
                        <a:t>Proposal Specification</a:t>
                      </a:r>
                      <a:endParaRPr lang="en-US" sz="10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0EA5E9"/>
                          </a:solidFill>
                        </a:rPr>
                        <a:t>Delivered Architecture</a:t>
                      </a:r>
                      <a:endParaRPr lang="en-US" sz="10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0EA5E9"/>
                          </a:solidFill>
                        </a:rPr>
                        <a:t>Academic &amp; Technical Rationale</a:t>
                      </a:r>
                      <a:endParaRPr lang="en-US" sz="10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50" b="1" dirty="0">
                          <a:solidFill>
                            <a:srgbClr val="F8FAFC"/>
                          </a:solidFill>
                        </a:rPr>
                        <a:t>Backend Engine</a:t>
                      </a:r>
                      <a:endParaRPr lang="en-US" sz="9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dirty="0">
                          <a:solidFill>
                            <a:srgbClr val="94A3B8"/>
                          </a:solidFill>
                        </a:rPr>
                        <a:t>Node.js / Express</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b="1" dirty="0">
                          <a:solidFill>
                            <a:srgbClr val="10B981"/>
                          </a:solidFill>
                        </a:rPr>
                        <a:t>Python 3.12 / FastAPI</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80" dirty="0">
                          <a:solidFill>
                            <a:srgbClr val="94A3B8"/>
                          </a:solidFill>
                        </a:rPr>
                        <a:t>Native asyncio event loop for concurrent WebSockets and MQTT; automatic Pydantic schema validation; auto-generated OpenAPI specs; seamless integration with Python energy analytics libraries.</a:t>
                      </a:r>
                      <a:endParaRPr lang="en-US" sz="88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50" b="1" dirty="0">
                          <a:solidFill>
                            <a:srgbClr val="F8FAFC"/>
                          </a:solidFill>
                        </a:rPr>
                        <a:t>Firmware Tooling</a:t>
                      </a:r>
                      <a:endParaRPr lang="en-US" sz="9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dirty="0">
                          <a:solidFill>
                            <a:srgbClr val="94A3B8"/>
                          </a:solidFill>
                        </a:rPr>
                        <a:t>Arduino IDE (Manual GUI)</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b="1" dirty="0">
                          <a:solidFill>
                            <a:srgbClr val="10B981"/>
                          </a:solidFill>
                        </a:rPr>
                        <a:t>PlatformIO Core 6.1.19</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80" dirty="0">
                          <a:solidFill>
                            <a:srgbClr val="94A3B8"/>
                          </a:solidFill>
                        </a:rPr>
                        <a:t>Enables reproducible CLI compilation, strictly pinned library dependencies (ArduinoJson, espMqttClient), multi-environment builds (esp32dev, release), and headless CI/CD build automation.</a:t>
                      </a:r>
                      <a:endParaRPr lang="en-US" sz="88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0">
                <a:tc>
                  <a:txBody>
                    <a:bodyPr/>
                    <a:lstStyle/>
                    <a:p>
                      <a:pPr indent="0" marL="0">
                        <a:buNone/>
                      </a:pPr>
                      <a:r>
                        <a:rPr lang="en-US" sz="950" b="1" dirty="0">
                          <a:solidFill>
                            <a:srgbClr val="F8FAFC"/>
                          </a:solidFill>
                        </a:rPr>
                        <a:t>Scheduling Scope</a:t>
                      </a:r>
                      <a:endParaRPr lang="en-US" sz="95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dirty="0">
                          <a:solidFill>
                            <a:srgbClr val="94A3B8"/>
                          </a:solidFill>
                        </a:rPr>
                        <a:t>Deferred to future work</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20" b="1" dirty="0">
                          <a:solidFill>
                            <a:srgbClr val="10B981"/>
                          </a:solidFill>
                        </a:rPr>
                        <a:t>Delivered in Version 1.0</a:t>
                      </a:r>
                      <a:endParaRPr lang="en-US" sz="92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880" dirty="0">
                          <a:solidFill>
                            <a:srgbClr val="94A3B8"/>
                          </a:solidFill>
                        </a:rPr>
                        <a:t>Autonomous cron scheduling is critical to achieving core commercial energy savings during unoccupied office hours; implemented ahead of schedule to deliver a complete production solution.</a:t>
                      </a:r>
                      <a:endParaRPr lang="en-US" sz="88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DEFENSE DEMO &amp; VERIFICATION SCRIPT</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Live Demonstration &amp; Hardware Choreography</a:t>
            </a:r>
            <a:endParaRPr lang="en-US" sz="950" dirty="0"/>
          </a:p>
        </p:txBody>
      </p:sp>
      <p:sp>
        <p:nvSpPr>
          <p:cNvPr id="3" name="Shape 1"/>
          <p:cNvSpPr/>
          <p:nvPr/>
        </p:nvSpPr>
        <p:spPr>
          <a:xfrm>
            <a:off x="731520" y="1143000"/>
            <a:ext cx="2414016" cy="1645920"/>
          </a:xfrm>
          <a:prstGeom prst="roundRect">
            <a:avLst>
              <a:gd name="adj" fmla="val 4444"/>
            </a:avLst>
          </a:prstGeom>
          <a:solidFill>
            <a:srgbClr val="1E293B"/>
          </a:solidFill>
          <a:ln w="12700">
            <a:solidFill>
              <a:srgbClr val="334155"/>
            </a:solidFill>
            <a:prstDash val="solid"/>
          </a:ln>
        </p:spPr>
      </p:sp>
      <p:sp>
        <p:nvSpPr>
          <p:cNvPr id="4" name="Text 2"/>
          <p:cNvSpPr/>
          <p:nvPr/>
        </p:nvSpPr>
        <p:spPr>
          <a:xfrm>
            <a:off x="877824" y="12710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01</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Cold-Boot &amp; NVS Recovery</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Power cycle the ESP32 hardware module.</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Observe instant (&lt;50ms) restoration of last-known appliance states from non-volatile flash memory.</a:t>
            </a:r>
            <a:endParaRPr lang="en-US" sz="850" dirty="0"/>
          </a:p>
        </p:txBody>
      </p:sp>
      <p:sp>
        <p:nvSpPr>
          <p:cNvPr id="5" name="Shape 3"/>
          <p:cNvSpPr/>
          <p:nvPr/>
        </p:nvSpPr>
        <p:spPr>
          <a:xfrm>
            <a:off x="3364992" y="1143000"/>
            <a:ext cx="2414016" cy="1645920"/>
          </a:xfrm>
          <a:prstGeom prst="roundRect">
            <a:avLst>
              <a:gd name="adj" fmla="val 4444"/>
            </a:avLst>
          </a:prstGeom>
          <a:solidFill>
            <a:srgbClr val="1E293B"/>
          </a:solidFill>
          <a:ln w="12700">
            <a:solidFill>
              <a:srgbClr val="334155"/>
            </a:solidFill>
            <a:prstDash val="solid"/>
          </a:ln>
        </p:spPr>
      </p:sp>
      <p:sp>
        <p:nvSpPr>
          <p:cNvPr id="6" name="Text 4"/>
          <p:cNvSpPr/>
          <p:nvPr/>
        </p:nvSpPr>
        <p:spPr>
          <a:xfrm>
            <a:off x="3511296" y="12710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02</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Bi-Directional Remote Control</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Actuate relays via desktop and mobile dashboards.</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Verify sub-500ms round-trip actuation and instant TanStack cache push without HTTP polling.</a:t>
            </a:r>
            <a:endParaRPr lang="en-US" sz="850" dirty="0"/>
          </a:p>
        </p:txBody>
      </p:sp>
      <p:sp>
        <p:nvSpPr>
          <p:cNvPr id="7" name="Shape 5"/>
          <p:cNvSpPr/>
          <p:nvPr/>
        </p:nvSpPr>
        <p:spPr>
          <a:xfrm>
            <a:off x="5998464" y="1143000"/>
            <a:ext cx="2414016" cy="1645920"/>
          </a:xfrm>
          <a:prstGeom prst="roundRect">
            <a:avLst>
              <a:gd name="adj" fmla="val 4444"/>
            </a:avLst>
          </a:prstGeom>
          <a:solidFill>
            <a:srgbClr val="1E293B"/>
          </a:solidFill>
          <a:ln w="12700">
            <a:solidFill>
              <a:srgbClr val="334155"/>
            </a:solidFill>
            <a:prstDash val="solid"/>
          </a:ln>
        </p:spPr>
      </p:sp>
      <p:sp>
        <p:nvSpPr>
          <p:cNvPr id="8" name="Text 6"/>
          <p:cNvSpPr/>
          <p:nvPr/>
        </p:nvSpPr>
        <p:spPr>
          <a:xfrm>
            <a:off x="6144768" y="12710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03</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Physical Wall Switch Override</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Toggle manual physical wall switches.</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Confirm instantaneous local relay actuation and real-time dashboard UI reflection in ~215ms.</a:t>
            </a:r>
            <a:endParaRPr lang="en-US" sz="850" dirty="0"/>
          </a:p>
        </p:txBody>
      </p:sp>
      <p:sp>
        <p:nvSpPr>
          <p:cNvPr id="9" name="Shape 7"/>
          <p:cNvSpPr/>
          <p:nvPr/>
        </p:nvSpPr>
        <p:spPr>
          <a:xfrm>
            <a:off x="731520" y="2971800"/>
            <a:ext cx="2414016" cy="1645920"/>
          </a:xfrm>
          <a:prstGeom prst="roundRect">
            <a:avLst>
              <a:gd name="adj" fmla="val 4444"/>
            </a:avLst>
          </a:prstGeom>
          <a:solidFill>
            <a:srgbClr val="1E293B"/>
          </a:solidFill>
          <a:ln w="12700">
            <a:solidFill>
              <a:srgbClr val="334155"/>
            </a:solidFill>
            <a:prstDash val="solid"/>
          </a:ln>
        </p:spPr>
      </p:sp>
      <p:sp>
        <p:nvSpPr>
          <p:cNvPr id="10" name="Text 8"/>
          <p:cNvSpPr/>
          <p:nvPr/>
        </p:nvSpPr>
        <p:spPr>
          <a:xfrm>
            <a:off x="877824" y="30998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04</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Autonomous Cron Scheduling</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Configure an automated timed appliance trigger.</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Demonstrate hands-off background execution without active browser sessions or user interaction.</a:t>
            </a:r>
            <a:endParaRPr lang="en-US" sz="850" dirty="0"/>
          </a:p>
        </p:txBody>
      </p:sp>
      <p:sp>
        <p:nvSpPr>
          <p:cNvPr id="11" name="Shape 9"/>
          <p:cNvSpPr/>
          <p:nvPr/>
        </p:nvSpPr>
        <p:spPr>
          <a:xfrm>
            <a:off x="3364992" y="2971800"/>
            <a:ext cx="2414016" cy="1645920"/>
          </a:xfrm>
          <a:prstGeom prst="roundRect">
            <a:avLst>
              <a:gd name="adj" fmla="val 4444"/>
            </a:avLst>
          </a:prstGeom>
          <a:solidFill>
            <a:srgbClr val="1E293B"/>
          </a:solidFill>
          <a:ln w="12700">
            <a:solidFill>
              <a:srgbClr val="334155"/>
            </a:solidFill>
            <a:prstDash val="solid"/>
          </a:ln>
        </p:spPr>
      </p:sp>
      <p:sp>
        <p:nvSpPr>
          <p:cNvPr id="12" name="Text 10"/>
          <p:cNvSpPr/>
          <p:nvPr/>
        </p:nvSpPr>
        <p:spPr>
          <a:xfrm>
            <a:off x="3511296" y="30998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05</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Band A Energy &amp; Cost Audit</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Review live kWh consumption computations and ₦209.5/kWh financial expenditure displays.</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Execute one-click administrative CSV audit report export.</a:t>
            </a:r>
            <a:endParaRPr lang="en-US" sz="850" dirty="0"/>
          </a:p>
        </p:txBody>
      </p:sp>
      <p:sp>
        <p:nvSpPr>
          <p:cNvPr id="13" name="Shape 11"/>
          <p:cNvSpPr/>
          <p:nvPr/>
        </p:nvSpPr>
        <p:spPr>
          <a:xfrm>
            <a:off x="5998464" y="2971800"/>
            <a:ext cx="2414016" cy="1645920"/>
          </a:xfrm>
          <a:prstGeom prst="roundRect">
            <a:avLst>
              <a:gd name="adj" fmla="val 4444"/>
            </a:avLst>
          </a:prstGeom>
          <a:solidFill>
            <a:srgbClr val="1E293B"/>
          </a:solidFill>
          <a:ln w="12700">
            <a:solidFill>
              <a:srgbClr val="334155"/>
            </a:solidFill>
            <a:prstDash val="solid"/>
          </a:ln>
        </p:spPr>
      </p:sp>
      <p:sp>
        <p:nvSpPr>
          <p:cNvPr id="14" name="Text 12"/>
          <p:cNvSpPr/>
          <p:nvPr/>
        </p:nvSpPr>
        <p:spPr>
          <a:xfrm>
            <a:off x="6144768" y="3099816"/>
            <a:ext cx="2121408" cy="1417320"/>
          </a:xfrm>
          <a:prstGeom prst="rect">
            <a:avLst/>
          </a:prstGeom>
          <a:noFill/>
          <a:ln/>
        </p:spPr>
        <p:txBody>
          <a:bodyPr wrap="square" lIns="0" tIns="0" rIns="0" bIns="0" rtlCol="0" anchor="t"/>
          <a:lstStyle/>
          <a:p>
            <a:pPr indent="0" marL="0">
              <a:spcAft>
                <a:spcPts val="300"/>
              </a:spcAft>
              <a:buNone/>
            </a:pPr>
            <a:r>
              <a:rPr lang="en-US" sz="850" b="1" spc="100" kern="0" dirty="0">
                <a:solidFill>
                  <a:srgbClr val="0EA5E9"/>
                </a:solidFill>
                <a:latin typeface="Arial" pitchFamily="34" charset="0"/>
                <a:ea typeface="Arial" pitchFamily="34" charset="-122"/>
                <a:cs typeface="Arial" pitchFamily="34" charset="-120"/>
              </a:rPr>
              <a:t>SEQUENCE 06</a:t>
            </a:r>
            <a:endParaRPr lang="en-US" sz="850" dirty="0"/>
          </a:p>
          <a:p>
            <a:pPr indent="0" marL="0">
              <a:spcAft>
                <a:spcPts val="600"/>
              </a:spcAft>
              <a:buNone/>
            </a:pPr>
            <a:r>
              <a:rPr lang="en-US" sz="1250" b="1" dirty="0">
                <a:solidFill>
                  <a:srgbClr val="F8FAFC"/>
                </a:solidFill>
                <a:latin typeface="Arial" pitchFamily="34" charset="0"/>
                <a:ea typeface="Arial" pitchFamily="34" charset="-122"/>
                <a:cs typeface="Arial" pitchFamily="34" charset="-120"/>
              </a:rPr>
              <a:t>Fault Containment &amp; Disconnect</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Disconnect network link to simulate connection loss.</a:t>
            </a:r>
            <a:endParaRPr lang="en-US" sz="850" dirty="0"/>
          </a:p>
          <a:p>
            <a:pPr marL="342900" indent="-342900">
              <a:spcAft>
                <a:spcPts val="400"/>
              </a:spcAft>
              <a:buSzPct val="100000"/>
              <a:buChar char="•"/>
            </a:pPr>
            <a:r>
              <a:rPr lang="en-US" sz="850" dirty="0">
                <a:solidFill>
                  <a:srgbClr val="94A3B8"/>
                </a:solidFill>
                <a:latin typeface="Arial" pitchFamily="34" charset="0"/>
                <a:ea typeface="Arial" pitchFamily="34" charset="-122"/>
                <a:cs typeface="Arial" pitchFamily="34" charset="-120"/>
              </a:rPr>
              <a:t>Verify broker LWT detection, backend HTTP 503 offline rejection, and uninterrupted local physical switching.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20040"/>
            <a:ext cx="7680960" cy="685800"/>
          </a:xfrm>
          <a:prstGeom prst="rect">
            <a:avLst/>
          </a:prstGeom>
          <a:noFill/>
          <a:ln/>
        </p:spPr>
        <p:txBody>
          <a:bodyPr wrap="square" lIns="0" tIns="0" rIns="0" bIns="0" rtlCol="0" anchor="t"/>
          <a:lstStyle/>
          <a:p>
            <a:pPr indent="0" marL="0">
              <a:spcAft>
                <a:spcPts val="400"/>
              </a:spcAft>
              <a:buNone/>
            </a:pPr>
            <a:r>
              <a:rPr lang="en-US" sz="950" b="1" spc="150" kern="0" dirty="0">
                <a:solidFill>
                  <a:srgbClr val="0EA5E9"/>
                </a:solidFill>
                <a:latin typeface="Arial" pitchFamily="34" charset="0"/>
                <a:ea typeface="Arial" pitchFamily="34" charset="-122"/>
                <a:cs typeface="Arial" pitchFamily="34" charset="-120"/>
              </a:rPr>
              <a:t>DEFENSE CONCLUSION &amp; ACKNOWLEDGMENTS</a:t>
            </a:r>
            <a:endParaRPr lang="en-US" sz="950" dirty="0"/>
          </a:p>
          <a:p>
            <a:pPr indent="0" marL="0">
              <a:buNone/>
            </a:pPr>
            <a:r>
              <a:rPr lang="en-US" sz="2200" b="1" dirty="0">
                <a:solidFill>
                  <a:srgbClr val="F8FAFC"/>
                </a:solidFill>
                <a:latin typeface="Arial" pitchFamily="34" charset="0"/>
                <a:ea typeface="Arial" pitchFamily="34" charset="-122"/>
                <a:cs typeface="Arial" pitchFamily="34" charset="-120"/>
              </a:rPr>
              <a:t>Conclusion, Future Scope &amp; Acknowledgments</a:t>
            </a:r>
            <a:endParaRPr lang="en-US" sz="950" dirty="0"/>
          </a:p>
        </p:txBody>
      </p:sp>
      <p:sp>
        <p:nvSpPr>
          <p:cNvPr id="3" name="Shape 1"/>
          <p:cNvSpPr/>
          <p:nvPr/>
        </p:nvSpPr>
        <p:spPr>
          <a:xfrm>
            <a:off x="731520" y="1143000"/>
            <a:ext cx="2414016" cy="3474720"/>
          </a:xfrm>
          <a:prstGeom prst="roundRect">
            <a:avLst>
              <a:gd name="adj" fmla="val 3030"/>
            </a:avLst>
          </a:prstGeom>
          <a:solidFill>
            <a:srgbClr val="1E293B"/>
          </a:solidFill>
          <a:ln w="12700">
            <a:solidFill>
              <a:srgbClr val="334155"/>
            </a:solidFill>
            <a:prstDash val="solid"/>
          </a:ln>
        </p:spPr>
      </p:sp>
      <p:sp>
        <p:nvSpPr>
          <p:cNvPr id="4" name="Text 2"/>
          <p:cNvSpPr/>
          <p:nvPr/>
        </p:nvSpPr>
        <p:spPr>
          <a:xfrm>
            <a:off x="877824"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10B981"/>
                </a:solidFill>
                <a:latin typeface="Arial" pitchFamily="34" charset="0"/>
                <a:ea typeface="Arial" pitchFamily="34" charset="-122"/>
                <a:cs typeface="Arial" pitchFamily="34" charset="-120"/>
              </a:rPr>
              <a:t>RESEARCH SUMMARY</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Key Achievements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Successfully engineered an industrial-grade, zero-budget IoT appliance management system.</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Met all 5 proposal research objectives and PRD non-functional requirements.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Validated 142ms actuation latency, 100% automated test pass rate, and WCAG 2.1 AA accessibility.</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Delivered production-ready Docker containerization with automated CI/CD deployment.</a:t>
            </a:r>
            <a:endParaRPr lang="en-US" sz="900" dirty="0"/>
          </a:p>
        </p:txBody>
      </p:sp>
      <p:sp>
        <p:nvSpPr>
          <p:cNvPr id="5" name="Shape 3"/>
          <p:cNvSpPr/>
          <p:nvPr/>
        </p:nvSpPr>
        <p:spPr>
          <a:xfrm>
            <a:off x="3364992" y="1143000"/>
            <a:ext cx="2414016" cy="3474720"/>
          </a:xfrm>
          <a:prstGeom prst="roundRect">
            <a:avLst>
              <a:gd name="adj" fmla="val 3030"/>
            </a:avLst>
          </a:prstGeom>
          <a:solidFill>
            <a:srgbClr val="1E293B"/>
          </a:solidFill>
          <a:ln w="12700">
            <a:solidFill>
              <a:srgbClr val="334155"/>
            </a:solidFill>
            <a:prstDash val="solid"/>
          </a:ln>
        </p:spPr>
      </p:sp>
      <p:sp>
        <p:nvSpPr>
          <p:cNvPr id="6" name="Text 4"/>
          <p:cNvSpPr/>
          <p:nvPr/>
        </p:nvSpPr>
        <p:spPr>
          <a:xfrm>
            <a:off x="3511296"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0EA5E9"/>
                </a:solidFill>
                <a:latin typeface="Arial" pitchFamily="34" charset="0"/>
                <a:ea typeface="Arial" pitchFamily="34" charset="-122"/>
                <a:cs typeface="Arial" pitchFamily="34" charset="-120"/>
              </a:rPr>
              <a:t>FUTURE ROADMAP</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Future Research Scope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Advanced Occupancy Sensing: Integration of passive infrared (PIR) and 24GHz mmWave radar sensors for vacancy shutdown.</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Edge Predictive Curtailment: Lightweight ML models forecasting peak tariff hours and pre-emptively curtailing non-critical loads.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Wide-Area LoRaWAN: Integrating long-range telemetry for multi-building university campus energy management.</a:t>
            </a:r>
            <a:endParaRPr lang="en-US" sz="900" dirty="0"/>
          </a:p>
        </p:txBody>
      </p:sp>
      <p:sp>
        <p:nvSpPr>
          <p:cNvPr id="7" name="Shape 5"/>
          <p:cNvSpPr/>
          <p:nvPr/>
        </p:nvSpPr>
        <p:spPr>
          <a:xfrm>
            <a:off x="5998464" y="1143000"/>
            <a:ext cx="2414016" cy="3474720"/>
          </a:xfrm>
          <a:prstGeom prst="roundRect">
            <a:avLst>
              <a:gd name="adj" fmla="val 3030"/>
            </a:avLst>
          </a:prstGeom>
          <a:solidFill>
            <a:srgbClr val="1E293B"/>
          </a:solidFill>
          <a:ln w="12700">
            <a:solidFill>
              <a:srgbClr val="334155"/>
            </a:solidFill>
            <a:prstDash val="solid"/>
          </a:ln>
        </p:spPr>
      </p:sp>
      <p:sp>
        <p:nvSpPr>
          <p:cNvPr id="8" name="Text 6"/>
          <p:cNvSpPr/>
          <p:nvPr/>
        </p:nvSpPr>
        <p:spPr>
          <a:xfrm>
            <a:off x="6144768" y="1280160"/>
            <a:ext cx="2121408" cy="3200400"/>
          </a:xfrm>
          <a:prstGeom prst="rect">
            <a:avLst/>
          </a:prstGeom>
          <a:noFill/>
          <a:ln/>
        </p:spPr>
        <p:txBody>
          <a:bodyPr wrap="square" lIns="0" tIns="0" rIns="0" bIns="0" rtlCol="0" anchor="t"/>
          <a:lstStyle/>
          <a:p>
            <a:pPr indent="0" marL="0">
              <a:spcAft>
                <a:spcPts val="400"/>
              </a:spcAft>
              <a:buNone/>
            </a:pPr>
            <a:r>
              <a:rPr lang="en-US" sz="900" b="1" spc="100" kern="0" dirty="0">
                <a:solidFill>
                  <a:srgbClr val="F59E0B"/>
                </a:solidFill>
                <a:latin typeface="Arial" pitchFamily="34" charset="0"/>
                <a:ea typeface="Arial" pitchFamily="34" charset="-122"/>
                <a:cs typeface="Arial" pitchFamily="34" charset="-120"/>
              </a:rPr>
              <a:t>ACKNOWLEDGMENTS</a:t>
            </a:r>
            <a:endParaRPr lang="en-US" sz="900" dirty="0"/>
          </a:p>
          <a:p>
            <a:pPr indent="0" marL="0">
              <a:spcAft>
                <a:spcPts val="1200"/>
              </a:spcAft>
              <a:buNone/>
            </a:pPr>
            <a:r>
              <a:rPr lang="en-US" sz="1400" b="1" dirty="0">
                <a:solidFill>
                  <a:srgbClr val="F8FAFC"/>
                </a:solidFill>
                <a:latin typeface="Arial" pitchFamily="34" charset="0"/>
                <a:ea typeface="Arial" pitchFamily="34" charset="-122"/>
                <a:cs typeface="Arial" pitchFamily="34" charset="-120"/>
              </a:rPr>
              <a:t>Formal Gratitude</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Project Supervisor &amp; Academic Faculty: Department of Computer Science, Ahmadu Bello University, Zaria.</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Engineering Collaborators: Israel (Firmware &amp; Software Lead) and Abdulfatai (Hardware Lead).</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Department of Computer Science: For laboratory facilities and computing resources.</a:t>
            </a:r>
            <a:endParaRPr lang="en-US" sz="900" dirty="0"/>
          </a:p>
          <a:p>
            <a:pPr marL="342900" indent="-342900">
              <a:spcAft>
                <a:spcPts val="800"/>
              </a:spcAft>
              <a:buSzPct val="100000"/>
              <a:buChar char="•"/>
            </a:pPr>
            <a:r>
              <a:rPr lang="en-US" sz="880" dirty="0">
                <a:solidFill>
                  <a:srgbClr val="94A3B8"/>
                </a:solidFill>
                <a:latin typeface="Arial" pitchFamily="34" charset="0"/>
                <a:ea typeface="Arial" pitchFamily="34" charset="-122"/>
                <a:cs typeface="Arial" pitchFamily="34" charset="-120"/>
              </a:rPr>
              <a:t>Distinguished Defense Panel: For valuable evaluation, time, and academic guidance.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2026-09-12T22:40:04Z</dcterms:created>
  <dcterms:modified xsi:type="dcterms:W3CDTF">2026-09-12T22:40:04Z</dcterms:modified>
</cp:coreProperties>
</file>